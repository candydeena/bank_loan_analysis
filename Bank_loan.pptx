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7" r:id="rId3"/>
    <p:sldId id="258" r:id="rId4"/>
    <p:sldId id="261" r:id="rId5"/>
    <p:sldId id="259" r:id="rId6"/>
    <p:sldId id="260" r:id="rId7"/>
    <p:sldId id="290" r:id="rId8"/>
    <p:sldId id="292" r:id="rId9"/>
    <p:sldId id="293" r:id="rId10"/>
    <p:sldId id="263" r:id="rId11"/>
    <p:sldId id="294" r:id="rId12"/>
    <p:sldId id="285" r:id="rId13"/>
    <p:sldId id="289"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53"/>
  </p:normalViewPr>
  <p:slideViewPr>
    <p:cSldViewPr snapToGrid="0" snapToObjects="1">
      <p:cViewPr>
        <p:scale>
          <a:sx n="31" d="100"/>
          <a:sy n="31" d="100"/>
        </p:scale>
        <p:origin x="1832" y="18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p:txBody>
      </p:sp>
      <p:sp>
        <p:nvSpPr>
          <p:cNvPr id="27" name="Shape 27"/>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Calibri" panose="020F0502020204030204" charset="0"/>
        <a:ea typeface="Calibri" panose="020F0502020204030204" charset="0"/>
        <a:cs typeface="Calibri" panose="020F0502020204030204" charset="0"/>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0" name="Номер слайда"/>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 photo">
    <p:spTree>
      <p:nvGrpSpPr>
        <p:cNvPr id="1" name=""/>
        <p:cNvGrpSpPr/>
        <p:nvPr/>
      </p:nvGrpSpPr>
      <p:grpSpPr>
        <a:xfrm>
          <a:off x="0" y="0"/>
          <a:ext cx="0" cy="0"/>
          <a:chOff x="0" y="0"/>
          <a:chExt cx="0" cy="0"/>
        </a:xfrm>
      </p:grpSpPr>
      <p:sp>
        <p:nvSpPr>
          <p:cNvPr id="20" name="Номер слайда"/>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3" name="Рисунок 2"/>
          <p:cNvSpPr>
            <a:spLocks noGrp="1"/>
          </p:cNvSpPr>
          <p:nvPr>
            <p:ph type="pic" sz="quarter" idx="10" hasCustomPrompt="1"/>
          </p:nvPr>
        </p:nvSpPr>
        <p:spPr>
          <a:xfrm>
            <a:off x="2843213" y="2524401"/>
            <a:ext cx="2862262" cy="2862263"/>
          </a:xfrm>
          <a:solidFill>
            <a:schemeClr val="bg2"/>
          </a:solidFill>
        </p:spPr>
        <p:txBody>
          <a:bodyPr/>
          <a:lstStyle>
            <a:lvl1pPr marL="0" indent="0">
              <a:buNone/>
              <a:defRPr/>
            </a:lvl1pPr>
          </a:lstStyle>
          <a:p>
            <a:r>
              <a:rPr lang="en-US" dirty="0" err="1"/>
              <a:t>img</a:t>
            </a:r>
            <a:endParaRPr lang="en-US" dirty="0"/>
          </a:p>
        </p:txBody>
      </p:sp>
      <p:sp>
        <p:nvSpPr>
          <p:cNvPr id="5" name="Рисунок 2"/>
          <p:cNvSpPr>
            <a:spLocks noGrp="1"/>
          </p:cNvSpPr>
          <p:nvPr>
            <p:ph type="pic" sz="quarter" idx="11" hasCustomPrompt="1"/>
          </p:nvPr>
        </p:nvSpPr>
        <p:spPr>
          <a:xfrm>
            <a:off x="6096621" y="2524400"/>
            <a:ext cx="2862262" cy="2862263"/>
          </a:xfrm>
          <a:solidFill>
            <a:schemeClr val="bg2"/>
          </a:solidFill>
        </p:spPr>
        <p:txBody>
          <a:bodyPr/>
          <a:lstStyle>
            <a:lvl1pPr marL="0" indent="0">
              <a:buNone/>
              <a:defRPr/>
            </a:lvl1pPr>
          </a:lstStyle>
          <a:p>
            <a:r>
              <a:rPr lang="en-US" dirty="0" err="1"/>
              <a:t>img</a:t>
            </a:r>
            <a:endParaRPr lang="en-US" dirty="0"/>
          </a:p>
        </p:txBody>
      </p:sp>
      <p:sp>
        <p:nvSpPr>
          <p:cNvPr id="6" name="Рисунок 2"/>
          <p:cNvSpPr>
            <a:spLocks noGrp="1"/>
          </p:cNvSpPr>
          <p:nvPr>
            <p:ph type="pic" sz="quarter" idx="12" hasCustomPrompt="1"/>
          </p:nvPr>
        </p:nvSpPr>
        <p:spPr>
          <a:xfrm>
            <a:off x="9350029" y="2524401"/>
            <a:ext cx="2862262" cy="2862263"/>
          </a:xfrm>
          <a:solidFill>
            <a:schemeClr val="bg2"/>
          </a:solidFill>
        </p:spPr>
        <p:txBody>
          <a:bodyPr/>
          <a:lstStyle>
            <a:lvl1pPr marL="0" indent="0">
              <a:buNone/>
              <a:defRPr/>
            </a:lvl1pPr>
          </a:lstStyle>
          <a:p>
            <a:r>
              <a:rPr lang="en-US" dirty="0" err="1"/>
              <a:t>img</a:t>
            </a:r>
            <a:endParaRPr lang="en-US" dirty="0"/>
          </a:p>
        </p:txBody>
      </p:sp>
      <p:sp>
        <p:nvSpPr>
          <p:cNvPr id="7" name="Рисунок 2"/>
          <p:cNvSpPr>
            <a:spLocks noGrp="1"/>
          </p:cNvSpPr>
          <p:nvPr>
            <p:ph type="pic" sz="quarter" idx="13" hasCustomPrompt="1"/>
          </p:nvPr>
        </p:nvSpPr>
        <p:spPr>
          <a:xfrm>
            <a:off x="12603437" y="2524400"/>
            <a:ext cx="2862262" cy="2862263"/>
          </a:xfrm>
          <a:solidFill>
            <a:schemeClr val="bg2"/>
          </a:solidFill>
        </p:spPr>
        <p:txBody>
          <a:bodyPr/>
          <a:lstStyle>
            <a:lvl1pPr marL="0" indent="0">
              <a:buNone/>
              <a:defRPr/>
            </a:lvl1pPr>
          </a:lstStyle>
          <a:p>
            <a:r>
              <a:rPr lang="en-US" dirty="0" err="1"/>
              <a:t>img</a:t>
            </a:r>
            <a:endParaRPr lang="en-US" dirty="0"/>
          </a:p>
        </p:txBody>
      </p:sp>
      <p:sp>
        <p:nvSpPr>
          <p:cNvPr id="8" name="Рисунок 2"/>
          <p:cNvSpPr>
            <a:spLocks noGrp="1"/>
          </p:cNvSpPr>
          <p:nvPr>
            <p:ph type="pic" sz="quarter" idx="14" hasCustomPrompt="1"/>
          </p:nvPr>
        </p:nvSpPr>
        <p:spPr>
          <a:xfrm>
            <a:off x="15856845" y="2524400"/>
            <a:ext cx="2862262" cy="2862263"/>
          </a:xfrm>
          <a:solidFill>
            <a:schemeClr val="bg2"/>
          </a:solidFill>
        </p:spPr>
        <p:txBody>
          <a:bodyPr/>
          <a:lstStyle>
            <a:lvl1pPr marL="0" indent="0">
              <a:buNone/>
              <a:defRPr/>
            </a:lvl1pPr>
          </a:lstStyle>
          <a:p>
            <a:r>
              <a:rPr lang="en-US" dirty="0" err="1"/>
              <a:t>img</a:t>
            </a:r>
            <a:endParaRPr lang="en-US" dirty="0"/>
          </a:p>
        </p:txBody>
      </p:sp>
      <p:sp>
        <p:nvSpPr>
          <p:cNvPr id="9" name="Рисунок 2"/>
          <p:cNvSpPr>
            <a:spLocks noGrp="1"/>
          </p:cNvSpPr>
          <p:nvPr>
            <p:ph type="pic" sz="quarter" idx="15" hasCustomPrompt="1"/>
          </p:nvPr>
        </p:nvSpPr>
        <p:spPr>
          <a:xfrm>
            <a:off x="19110253" y="2524399"/>
            <a:ext cx="2862262" cy="2862263"/>
          </a:xfrm>
          <a:solidFill>
            <a:schemeClr val="bg2"/>
          </a:solidFill>
        </p:spPr>
        <p:txBody>
          <a:bodyPr/>
          <a:lstStyle>
            <a:lvl1pPr marL="0" indent="0">
              <a:buNone/>
              <a:defRPr/>
            </a:lvl1pPr>
          </a:lstStyle>
          <a:p>
            <a:r>
              <a:rPr lang="en-US" dirty="0" err="1"/>
              <a:t>img</a:t>
            </a:r>
            <a:endParaRPr lang="en-US" dirty="0"/>
          </a:p>
        </p:txBody>
      </p:sp>
      <p:sp>
        <p:nvSpPr>
          <p:cNvPr id="10" name="Рисунок 2"/>
          <p:cNvSpPr>
            <a:spLocks noGrp="1"/>
          </p:cNvSpPr>
          <p:nvPr>
            <p:ph type="pic" sz="quarter" idx="16" hasCustomPrompt="1"/>
          </p:nvPr>
        </p:nvSpPr>
        <p:spPr>
          <a:xfrm>
            <a:off x="2843213" y="5738053"/>
            <a:ext cx="2862262" cy="2862263"/>
          </a:xfrm>
          <a:solidFill>
            <a:schemeClr val="bg2"/>
          </a:solidFill>
        </p:spPr>
        <p:txBody>
          <a:bodyPr/>
          <a:lstStyle>
            <a:lvl1pPr marL="0" indent="0">
              <a:buNone/>
              <a:defRPr/>
            </a:lvl1pPr>
          </a:lstStyle>
          <a:p>
            <a:r>
              <a:rPr lang="en-US" dirty="0" err="1"/>
              <a:t>img</a:t>
            </a:r>
            <a:endParaRPr lang="en-US" dirty="0"/>
          </a:p>
        </p:txBody>
      </p:sp>
      <p:sp>
        <p:nvSpPr>
          <p:cNvPr id="11" name="Рисунок 2"/>
          <p:cNvSpPr>
            <a:spLocks noGrp="1"/>
          </p:cNvSpPr>
          <p:nvPr>
            <p:ph type="pic" sz="quarter" idx="17" hasCustomPrompt="1"/>
          </p:nvPr>
        </p:nvSpPr>
        <p:spPr>
          <a:xfrm>
            <a:off x="6096621" y="5738052"/>
            <a:ext cx="2862262" cy="2862263"/>
          </a:xfrm>
          <a:solidFill>
            <a:schemeClr val="bg2"/>
          </a:solidFill>
        </p:spPr>
        <p:txBody>
          <a:bodyPr/>
          <a:lstStyle>
            <a:lvl1pPr marL="0" indent="0">
              <a:buNone/>
              <a:defRPr/>
            </a:lvl1pPr>
          </a:lstStyle>
          <a:p>
            <a:r>
              <a:rPr lang="en-US" dirty="0" err="1"/>
              <a:t>img</a:t>
            </a:r>
            <a:endParaRPr lang="en-US" dirty="0"/>
          </a:p>
        </p:txBody>
      </p:sp>
      <p:sp>
        <p:nvSpPr>
          <p:cNvPr id="12" name="Рисунок 2"/>
          <p:cNvSpPr>
            <a:spLocks noGrp="1"/>
          </p:cNvSpPr>
          <p:nvPr>
            <p:ph type="pic" sz="quarter" idx="18" hasCustomPrompt="1"/>
          </p:nvPr>
        </p:nvSpPr>
        <p:spPr>
          <a:xfrm>
            <a:off x="9350029" y="5738053"/>
            <a:ext cx="2862262" cy="2862263"/>
          </a:xfrm>
          <a:solidFill>
            <a:schemeClr val="bg2"/>
          </a:solidFill>
        </p:spPr>
        <p:txBody>
          <a:bodyPr/>
          <a:lstStyle>
            <a:lvl1pPr marL="0" indent="0">
              <a:buNone/>
              <a:defRPr/>
            </a:lvl1pPr>
          </a:lstStyle>
          <a:p>
            <a:r>
              <a:rPr lang="en-US" dirty="0" err="1"/>
              <a:t>img</a:t>
            </a:r>
            <a:endParaRPr lang="en-US" dirty="0"/>
          </a:p>
        </p:txBody>
      </p:sp>
      <p:sp>
        <p:nvSpPr>
          <p:cNvPr id="13" name="Рисунок 2"/>
          <p:cNvSpPr>
            <a:spLocks noGrp="1"/>
          </p:cNvSpPr>
          <p:nvPr>
            <p:ph type="pic" sz="quarter" idx="19" hasCustomPrompt="1"/>
          </p:nvPr>
        </p:nvSpPr>
        <p:spPr>
          <a:xfrm>
            <a:off x="12603437" y="5738052"/>
            <a:ext cx="2862262" cy="2862263"/>
          </a:xfrm>
          <a:solidFill>
            <a:schemeClr val="bg2"/>
          </a:solidFill>
        </p:spPr>
        <p:txBody>
          <a:bodyPr/>
          <a:lstStyle>
            <a:lvl1pPr marL="0" indent="0">
              <a:buNone/>
              <a:defRPr/>
            </a:lvl1pPr>
          </a:lstStyle>
          <a:p>
            <a:r>
              <a:rPr lang="en-US" dirty="0" err="1"/>
              <a:t>img</a:t>
            </a:r>
            <a:endParaRPr lang="en-US" dirty="0"/>
          </a:p>
        </p:txBody>
      </p:sp>
      <p:sp>
        <p:nvSpPr>
          <p:cNvPr id="14" name="Рисунок 2"/>
          <p:cNvSpPr>
            <a:spLocks noGrp="1"/>
          </p:cNvSpPr>
          <p:nvPr>
            <p:ph type="pic" sz="quarter" idx="20" hasCustomPrompt="1"/>
          </p:nvPr>
        </p:nvSpPr>
        <p:spPr>
          <a:xfrm>
            <a:off x="15856845" y="5738052"/>
            <a:ext cx="2862262" cy="2862263"/>
          </a:xfrm>
          <a:solidFill>
            <a:schemeClr val="bg2"/>
          </a:solidFill>
        </p:spPr>
        <p:txBody>
          <a:bodyPr/>
          <a:lstStyle>
            <a:lvl1pPr marL="0" indent="0">
              <a:buNone/>
              <a:defRPr/>
            </a:lvl1pPr>
          </a:lstStyle>
          <a:p>
            <a:r>
              <a:rPr lang="en-US" dirty="0" err="1"/>
              <a:t>img</a:t>
            </a:r>
            <a:endParaRPr lang="en-US" dirty="0"/>
          </a:p>
        </p:txBody>
      </p:sp>
      <p:sp>
        <p:nvSpPr>
          <p:cNvPr id="15" name="Рисунок 2"/>
          <p:cNvSpPr>
            <a:spLocks noGrp="1"/>
          </p:cNvSpPr>
          <p:nvPr>
            <p:ph type="pic" sz="quarter" idx="21" hasCustomPrompt="1"/>
          </p:nvPr>
        </p:nvSpPr>
        <p:spPr>
          <a:xfrm>
            <a:off x="19110253" y="5738051"/>
            <a:ext cx="2862262" cy="2862263"/>
          </a:xfrm>
          <a:solidFill>
            <a:schemeClr val="bg2"/>
          </a:solidFill>
        </p:spPr>
        <p:txBody>
          <a:bodyPr/>
          <a:lstStyle>
            <a:lvl1pPr marL="0" indent="0">
              <a:buNone/>
              <a:defRPr/>
            </a:lvl1pPr>
          </a:lstStyle>
          <a:p>
            <a:r>
              <a:rPr lang="en-US" dirty="0" err="1"/>
              <a:t>img</a:t>
            </a:r>
            <a:endParaRPr 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with photo">
    <p:spTree>
      <p:nvGrpSpPr>
        <p:cNvPr id="1" name=""/>
        <p:cNvGrpSpPr/>
        <p:nvPr/>
      </p:nvGrpSpPr>
      <p:grpSpPr>
        <a:xfrm>
          <a:off x="0" y="0"/>
          <a:ext cx="0" cy="0"/>
          <a:chOff x="0" y="0"/>
          <a:chExt cx="0" cy="0"/>
        </a:xfrm>
      </p:grpSpPr>
      <p:sp>
        <p:nvSpPr>
          <p:cNvPr id="20" name="Номер слайда"/>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3" name="Рисунок 2"/>
          <p:cNvSpPr>
            <a:spLocks noGrp="1"/>
          </p:cNvSpPr>
          <p:nvPr>
            <p:ph type="pic" sz="quarter" idx="10" hasCustomPrompt="1"/>
          </p:nvPr>
        </p:nvSpPr>
        <p:spPr>
          <a:xfrm>
            <a:off x="342162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17" name="Рисунок 2"/>
          <p:cNvSpPr>
            <a:spLocks noGrp="1"/>
          </p:cNvSpPr>
          <p:nvPr>
            <p:ph type="pic" sz="quarter" idx="11" hasCustomPrompt="1"/>
          </p:nvPr>
        </p:nvSpPr>
        <p:spPr>
          <a:xfrm>
            <a:off x="636675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18" name="Рисунок 2"/>
          <p:cNvSpPr>
            <a:spLocks noGrp="1"/>
          </p:cNvSpPr>
          <p:nvPr>
            <p:ph type="pic" sz="quarter" idx="12" hasCustomPrompt="1"/>
          </p:nvPr>
        </p:nvSpPr>
        <p:spPr>
          <a:xfrm>
            <a:off x="931188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19" name="Рисунок 2"/>
          <p:cNvSpPr>
            <a:spLocks noGrp="1"/>
          </p:cNvSpPr>
          <p:nvPr>
            <p:ph type="pic" sz="quarter" idx="13" hasCustomPrompt="1"/>
          </p:nvPr>
        </p:nvSpPr>
        <p:spPr>
          <a:xfrm>
            <a:off x="1225701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1" name="Рисунок 2"/>
          <p:cNvSpPr>
            <a:spLocks noGrp="1"/>
          </p:cNvSpPr>
          <p:nvPr>
            <p:ph type="pic" sz="quarter" idx="14" hasCustomPrompt="1"/>
          </p:nvPr>
        </p:nvSpPr>
        <p:spPr>
          <a:xfrm>
            <a:off x="1520214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2" name="Рисунок 2"/>
          <p:cNvSpPr>
            <a:spLocks noGrp="1"/>
          </p:cNvSpPr>
          <p:nvPr>
            <p:ph type="pic" sz="quarter" idx="15" hasCustomPrompt="1"/>
          </p:nvPr>
        </p:nvSpPr>
        <p:spPr>
          <a:xfrm>
            <a:off x="18147273" y="3038751"/>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3" name="Рисунок 2"/>
          <p:cNvSpPr>
            <a:spLocks noGrp="1"/>
          </p:cNvSpPr>
          <p:nvPr>
            <p:ph type="pic" sz="quarter" idx="16" hasCustomPrompt="1"/>
          </p:nvPr>
        </p:nvSpPr>
        <p:spPr>
          <a:xfrm>
            <a:off x="342162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4" name="Рисунок 2"/>
          <p:cNvSpPr>
            <a:spLocks noGrp="1"/>
          </p:cNvSpPr>
          <p:nvPr>
            <p:ph type="pic" sz="quarter" idx="17" hasCustomPrompt="1"/>
          </p:nvPr>
        </p:nvSpPr>
        <p:spPr>
          <a:xfrm>
            <a:off x="636675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5" name="Рисунок 2"/>
          <p:cNvSpPr>
            <a:spLocks noGrp="1"/>
          </p:cNvSpPr>
          <p:nvPr>
            <p:ph type="pic" sz="quarter" idx="18" hasCustomPrompt="1"/>
          </p:nvPr>
        </p:nvSpPr>
        <p:spPr>
          <a:xfrm>
            <a:off x="931188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6" name="Рисунок 2"/>
          <p:cNvSpPr>
            <a:spLocks noGrp="1"/>
          </p:cNvSpPr>
          <p:nvPr>
            <p:ph type="pic" sz="quarter" idx="19" hasCustomPrompt="1"/>
          </p:nvPr>
        </p:nvSpPr>
        <p:spPr>
          <a:xfrm>
            <a:off x="1225701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7" name="Рисунок 2"/>
          <p:cNvSpPr>
            <a:spLocks noGrp="1"/>
          </p:cNvSpPr>
          <p:nvPr>
            <p:ph type="pic" sz="quarter" idx="20" hasCustomPrompt="1"/>
          </p:nvPr>
        </p:nvSpPr>
        <p:spPr>
          <a:xfrm>
            <a:off x="1520214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8" name="Рисунок 2"/>
          <p:cNvSpPr>
            <a:spLocks noGrp="1"/>
          </p:cNvSpPr>
          <p:nvPr>
            <p:ph type="pic" sz="quarter" idx="21" hasCustomPrompt="1"/>
          </p:nvPr>
        </p:nvSpPr>
        <p:spPr>
          <a:xfrm>
            <a:off x="18147273" y="5084463"/>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29" name="Рисунок 2"/>
          <p:cNvSpPr>
            <a:spLocks noGrp="1"/>
          </p:cNvSpPr>
          <p:nvPr>
            <p:ph type="pic" sz="quarter" idx="22" hasCustomPrompt="1"/>
          </p:nvPr>
        </p:nvSpPr>
        <p:spPr>
          <a:xfrm>
            <a:off x="342162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30" name="Рисунок 2"/>
          <p:cNvSpPr>
            <a:spLocks noGrp="1"/>
          </p:cNvSpPr>
          <p:nvPr>
            <p:ph type="pic" sz="quarter" idx="23" hasCustomPrompt="1"/>
          </p:nvPr>
        </p:nvSpPr>
        <p:spPr>
          <a:xfrm>
            <a:off x="636675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31" name="Рисунок 2"/>
          <p:cNvSpPr>
            <a:spLocks noGrp="1"/>
          </p:cNvSpPr>
          <p:nvPr>
            <p:ph type="pic" sz="quarter" idx="24" hasCustomPrompt="1"/>
          </p:nvPr>
        </p:nvSpPr>
        <p:spPr>
          <a:xfrm>
            <a:off x="931188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32" name="Рисунок 2"/>
          <p:cNvSpPr>
            <a:spLocks noGrp="1"/>
          </p:cNvSpPr>
          <p:nvPr>
            <p:ph type="pic" sz="quarter" idx="25" hasCustomPrompt="1"/>
          </p:nvPr>
        </p:nvSpPr>
        <p:spPr>
          <a:xfrm>
            <a:off x="1225701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33" name="Рисунок 2"/>
          <p:cNvSpPr>
            <a:spLocks noGrp="1"/>
          </p:cNvSpPr>
          <p:nvPr>
            <p:ph type="pic" sz="quarter" idx="26" hasCustomPrompt="1"/>
          </p:nvPr>
        </p:nvSpPr>
        <p:spPr>
          <a:xfrm>
            <a:off x="1520214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
        <p:nvSpPr>
          <p:cNvPr id="34" name="Рисунок 2"/>
          <p:cNvSpPr>
            <a:spLocks noGrp="1"/>
          </p:cNvSpPr>
          <p:nvPr>
            <p:ph type="pic" sz="quarter" idx="27" hasCustomPrompt="1"/>
          </p:nvPr>
        </p:nvSpPr>
        <p:spPr>
          <a:xfrm>
            <a:off x="18147273" y="7130175"/>
            <a:ext cx="2602931" cy="1773537"/>
          </a:xfrm>
          <a:prstGeom prst="roundRect">
            <a:avLst>
              <a:gd name="adj" fmla="val 8074"/>
            </a:avLst>
          </a:prstGeom>
          <a:solidFill>
            <a:schemeClr val="bg2"/>
          </a:solidFill>
        </p:spPr>
        <p:txBody>
          <a:bodyPr/>
          <a:lstStyle>
            <a:lvl1pPr marL="0" indent="0">
              <a:buNone/>
              <a:defRPr/>
            </a:lvl1pPr>
          </a:lstStyle>
          <a:p>
            <a:r>
              <a:rPr lang="en-US" dirty="0" err="1"/>
              <a:t>img</a:t>
            </a:r>
            <a:endParaRPr 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accent1">
                <a:lumMod val="5000"/>
                <a:lumOff val="9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2" name="Текст заголовка"/>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Текст заголовка</a:t>
            </a:r>
          </a:p>
        </p:txBody>
      </p:sp>
      <p:sp>
        <p:nvSpPr>
          <p:cNvPr id="3" name="Уровень текста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4" name="Номер слайда"/>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Calibri" panose="020F0502020204030204" charset="0"/>
                <a:ea typeface="Calibri" panose="020F0502020204030204" charset="0"/>
                <a:cs typeface="Calibri" panose="020F0502020204030204" charset="0"/>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Calibri" panose="020F0502020204030204" charset="0"/>
          <a:ea typeface="Calibri" panose="020F0502020204030204" charset="0"/>
          <a:cs typeface="Calibri" panose="020F0502020204030204" charset="0"/>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34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Calibri" panose="020F0502020204030204" charset="0"/>
          <a:ea typeface="Calibri" panose="020F0502020204030204" charset="0"/>
          <a:cs typeface="Calibri" panose="020F0502020204030204" charset="0"/>
          <a:sym typeface="Open Sans"/>
        </a:defRPr>
      </a:lvl1pPr>
      <a:lvl2pPr marL="97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Calibri" panose="020F0502020204030204" charset="0"/>
          <a:ea typeface="Calibri" panose="020F0502020204030204" charset="0"/>
          <a:cs typeface="Calibri" panose="020F0502020204030204" charset="0"/>
          <a:sym typeface="Open Sans"/>
        </a:defRPr>
      </a:lvl2pPr>
      <a:lvl3pPr marL="161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Calibri" panose="020F0502020204030204" charset="0"/>
          <a:ea typeface="Calibri" panose="020F0502020204030204" charset="0"/>
          <a:cs typeface="Calibri" panose="020F0502020204030204" charset="0"/>
          <a:sym typeface="Open Sans"/>
        </a:defRPr>
      </a:lvl3pPr>
      <a:lvl4pPr marL="224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Calibri" panose="020F0502020204030204" charset="0"/>
          <a:ea typeface="Calibri" panose="020F0502020204030204" charset="0"/>
          <a:cs typeface="Calibri" panose="020F0502020204030204" charset="0"/>
          <a:sym typeface="Open Sans"/>
        </a:defRPr>
      </a:lvl4pPr>
      <a:lvl5pPr marL="288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Calibri" panose="020F0502020204030204" charset="0"/>
          <a:ea typeface="Calibri" panose="020F0502020204030204" charset="0"/>
          <a:cs typeface="Calibri" panose="020F0502020204030204" charset="0"/>
          <a:sym typeface="Open Sans"/>
        </a:defRPr>
      </a:lvl5pPr>
      <a:lvl6pPr marL="351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Open Sans"/>
          <a:ea typeface="Open Sans"/>
          <a:cs typeface="Open Sans"/>
          <a:sym typeface="Open Sans"/>
        </a:defRPr>
      </a:lvl6pPr>
      <a:lvl7pPr marL="415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Open Sans"/>
          <a:ea typeface="Open Sans"/>
          <a:cs typeface="Open Sans"/>
          <a:sym typeface="Open Sans"/>
        </a:defRPr>
      </a:lvl7pPr>
      <a:lvl8pPr marL="478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Open Sans"/>
          <a:ea typeface="Open Sans"/>
          <a:cs typeface="Open Sans"/>
          <a:sym typeface="Open Sans"/>
        </a:defRPr>
      </a:lvl8pPr>
      <a:lvl9pPr marL="542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uFillTx/>
          <a:latin typeface="Open Sans"/>
          <a:ea typeface="Open Sans"/>
          <a:cs typeface="Open Sans"/>
          <a:sym typeface="Open Sans"/>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00" y="635"/>
            <a:ext cx="24382800" cy="13716000"/>
          </a:xfrm>
          <a:prstGeom prst="rect">
            <a:avLst/>
          </a:prstGeom>
          <a:gradFill flip="none" rotWithShape="1">
            <a:gsLst>
              <a:gs pos="0">
                <a:schemeClr val="accent2"/>
              </a:gs>
              <a:gs pos="100000">
                <a:schemeClr val="accent3">
                  <a:lumMod val="60000"/>
                  <a:lumOff val="40000"/>
                </a:schemeClr>
              </a:gs>
            </a:gsLst>
            <a:lin ang="3403977" scaled="0"/>
          </a:gradFill>
          <a:ln w="12700" cap="flat">
            <a:noFill/>
            <a:miter lim="400000"/>
          </a:ln>
          <a:effectLst/>
        </p:spPr>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9" name="组合 8"/>
          <p:cNvGrpSpPr/>
          <p:nvPr/>
        </p:nvGrpSpPr>
        <p:grpSpPr>
          <a:xfrm>
            <a:off x="7491561" y="2119477"/>
            <a:ext cx="9400878" cy="9400879"/>
            <a:chOff x="5838" y="3338"/>
            <a:chExt cx="14805" cy="14805"/>
          </a:xfrm>
        </p:grpSpPr>
        <p:sp>
          <p:nvSpPr>
            <p:cNvPr id="38" name="Кружок"/>
            <p:cNvSpPr/>
            <p:nvPr/>
          </p:nvSpPr>
          <p:spPr>
            <a:xfrm>
              <a:off x="5838" y="3338"/>
              <a:ext cx="14805" cy="14805"/>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39" name="Фигура"/>
            <p:cNvSpPr/>
            <p:nvPr/>
          </p:nvSpPr>
          <p:spPr>
            <a:xfrm>
              <a:off x="10962" y="6107"/>
              <a:ext cx="4557" cy="4557"/>
            </a:xfrm>
            <a:custGeom>
              <a:avLst/>
              <a:gdLst/>
              <a:ahLst/>
              <a:cxnLst>
                <a:cxn ang="0">
                  <a:pos x="wd2" y="hd2"/>
                </a:cxn>
                <a:cxn ang="5400000">
                  <a:pos x="wd2" y="hd2"/>
                </a:cxn>
                <a:cxn ang="10800000">
                  <a:pos x="wd2" y="hd2"/>
                </a:cxn>
                <a:cxn ang="16200000">
                  <a:pos x="wd2" y="hd2"/>
                </a:cxn>
              </a:cxnLst>
              <a:rect l="0" t="0" r="r" b="b"/>
              <a:pathLst>
                <a:path w="20326" h="21146" extrusionOk="0">
                  <a:moveTo>
                    <a:pt x="2432" y="3715"/>
                  </a:moveTo>
                  <a:lnTo>
                    <a:pt x="5986" y="3723"/>
                  </a:lnTo>
                  <a:cubicBezTo>
                    <a:pt x="10219" y="1000"/>
                    <a:pt x="15789" y="3007"/>
                    <a:pt x="17495" y="7871"/>
                  </a:cubicBezTo>
                  <a:cubicBezTo>
                    <a:pt x="18120" y="9654"/>
                    <a:pt x="18079" y="11542"/>
                    <a:pt x="17509" y="13231"/>
                  </a:cubicBezTo>
                  <a:cubicBezTo>
                    <a:pt x="16949" y="14891"/>
                    <a:pt x="15875" y="16367"/>
                    <a:pt x="14372" y="17382"/>
                  </a:cubicBezTo>
                  <a:lnTo>
                    <a:pt x="12093" y="13839"/>
                  </a:lnTo>
                  <a:cubicBezTo>
                    <a:pt x="13534" y="13089"/>
                    <a:pt x="14399" y="11511"/>
                    <a:pt x="14286" y="9839"/>
                  </a:cubicBezTo>
                  <a:cubicBezTo>
                    <a:pt x="14140" y="7677"/>
                    <a:pt x="12462" y="5969"/>
                    <a:pt x="10381" y="5865"/>
                  </a:cubicBezTo>
                  <a:lnTo>
                    <a:pt x="1051" y="5865"/>
                  </a:lnTo>
                  <a:cubicBezTo>
                    <a:pt x="-1050" y="10309"/>
                    <a:pt x="72" y="15674"/>
                    <a:pt x="3758" y="18808"/>
                  </a:cubicBezTo>
                  <a:cubicBezTo>
                    <a:pt x="4800" y="19694"/>
                    <a:pt x="5994" y="20337"/>
                    <a:pt x="7260" y="20722"/>
                  </a:cubicBezTo>
                  <a:cubicBezTo>
                    <a:pt x="8490" y="21096"/>
                    <a:pt x="9788" y="21228"/>
                    <a:pt x="11089" y="21096"/>
                  </a:cubicBezTo>
                  <a:lnTo>
                    <a:pt x="9552" y="18651"/>
                  </a:lnTo>
                  <a:cubicBezTo>
                    <a:pt x="7167" y="18482"/>
                    <a:pt x="4991" y="17176"/>
                    <a:pt x="3656" y="15112"/>
                  </a:cubicBezTo>
                  <a:cubicBezTo>
                    <a:pt x="2368" y="13121"/>
                    <a:pt x="2002" y="10635"/>
                    <a:pt x="2659" y="8335"/>
                  </a:cubicBezTo>
                  <a:lnTo>
                    <a:pt x="10232" y="8313"/>
                  </a:lnTo>
                  <a:cubicBezTo>
                    <a:pt x="11195" y="8267"/>
                    <a:pt x="11996" y="9072"/>
                    <a:pt x="11986" y="10074"/>
                  </a:cubicBezTo>
                  <a:cubicBezTo>
                    <a:pt x="11976" y="11051"/>
                    <a:pt x="11194" y="11828"/>
                    <a:pt x="10256" y="11793"/>
                  </a:cubicBezTo>
                  <a:lnTo>
                    <a:pt x="7982" y="11793"/>
                  </a:lnTo>
                  <a:lnTo>
                    <a:pt x="13519" y="20553"/>
                  </a:lnTo>
                  <a:cubicBezTo>
                    <a:pt x="16183" y="19559"/>
                    <a:pt x="18336" y="17468"/>
                    <a:pt x="19473" y="14773"/>
                  </a:cubicBezTo>
                  <a:cubicBezTo>
                    <a:pt x="20323" y="12760"/>
                    <a:pt x="20550" y="10520"/>
                    <a:pt x="20097" y="8373"/>
                  </a:cubicBezTo>
                  <a:cubicBezTo>
                    <a:pt x="19170" y="3983"/>
                    <a:pt x="15694" y="669"/>
                    <a:pt x="11410" y="88"/>
                  </a:cubicBezTo>
                  <a:cubicBezTo>
                    <a:pt x="8019" y="-372"/>
                    <a:pt x="4636" y="995"/>
                    <a:pt x="2432" y="3715"/>
                  </a:cubicBezTo>
                  <a:close/>
                </a:path>
              </a:pathLst>
            </a:custGeom>
            <a:gradFill>
              <a:gsLst>
                <a:gs pos="0">
                  <a:schemeClr val="accent2"/>
                </a:gs>
                <a:gs pos="100000">
                  <a:schemeClr val="accent1"/>
                </a:gs>
              </a:gsLst>
              <a:lin ang="201583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40" name="Radiance"/>
            <p:cNvSpPr txBox="1"/>
            <p:nvPr/>
          </p:nvSpPr>
          <p:spPr>
            <a:xfrm>
              <a:off x="6662" y="11279"/>
              <a:ext cx="13601" cy="1904"/>
            </a:xfrm>
            <a:prstGeom prst="rect">
              <a:avLst/>
            </a:prstGeom>
            <a:ln w="12700">
              <a:miter lim="400000"/>
            </a:ln>
          </p:spPr>
          <p:txBody>
            <a:bodyPr wrap="square" lIns="50800" tIns="50800" rIns="50800" bIns="50800" anchor="ctr">
              <a:spAutoFit/>
            </a:bodyPr>
            <a:lstStyle>
              <a:lvl1pPr>
                <a:defRPr sz="8000" b="0">
                  <a:solidFill>
                    <a:srgbClr val="31333E"/>
                  </a:solidFill>
                  <a:latin typeface="Maven Pro Bold"/>
                  <a:ea typeface="Maven Pro Bold"/>
                  <a:cs typeface="Maven Pro Bold"/>
                  <a:sym typeface="Maven Pro Bold"/>
                </a:defRPr>
              </a:lvl1pPr>
            </a:lstStyle>
            <a:p>
              <a:pPr algn="ctr"/>
              <a:r>
                <a:rPr lang="en-IN" sz="7200" b="1" dirty="0">
                  <a:solidFill>
                    <a:schemeClr val="tx1"/>
                  </a:solidFill>
                  <a:latin typeface="Times New Roman" panose="02020603050405020304" charset="0"/>
                  <a:ea typeface="Calibri" panose="020F0502020204030204" charset="0"/>
                  <a:cs typeface="Times New Roman" panose="02020603050405020304" charset="0"/>
                </a:rPr>
                <a:t>Bank_Loan_Report</a:t>
              </a:r>
              <a:endParaRPr lang="en-IN" sz="7200" b="1" dirty="0">
                <a:solidFill>
                  <a:schemeClr val="tx1"/>
                </a:solidFill>
                <a:latin typeface="Times New Roman" panose="02020603050405020304" charset="0"/>
                <a:ea typeface="Calibri" panose="020F0502020204030204" charset="0"/>
                <a:cs typeface="Times New Roman" panose="02020603050405020304" charset="0"/>
              </a:endParaRPr>
            </a:p>
          </p:txBody>
        </p:sp>
      </p:grpSp>
      <p:sp>
        <p:nvSpPr>
          <p:cNvPr id="2" name="Text Box 1"/>
          <p:cNvSpPr txBox="1"/>
          <p:nvPr/>
        </p:nvSpPr>
        <p:spPr>
          <a:xfrm>
            <a:off x="8216265" y="8665845"/>
            <a:ext cx="8120380" cy="12503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ctr" defTabSz="825500" rtl="0" fontAlgn="auto" latinLnBrk="0" hangingPunct="0">
              <a:lnSpc>
                <a:spcPct val="100000"/>
              </a:lnSpc>
              <a:spcBef>
                <a:spcPts val="0"/>
              </a:spcBef>
              <a:spcAft>
                <a:spcPts val="0"/>
              </a:spcAft>
              <a:buClrTx/>
              <a:buSzTx/>
              <a:buFontTx/>
              <a:buNone/>
            </a:pPr>
            <a:r>
              <a:rPr kumimoji="0" lang="en-IN" altLang="en-US" sz="3000" b="1" i="0" u="none" strike="noStrike" cap="none" spc="0" normalizeH="0" baseline="0">
                <a:ln>
                  <a:noFill/>
                </a:ln>
                <a:solidFill>
                  <a:srgbClr val="000000"/>
                </a:solidFill>
                <a:effectLst/>
                <a:uFillTx/>
                <a:latin typeface="Times New Roman" panose="02020603050405020304" charset="0"/>
                <a:ea typeface="Helvetica Neue"/>
                <a:cs typeface="Times New Roman" panose="02020603050405020304" charset="0"/>
                <a:sym typeface="Helvetica Neue"/>
              </a:rPr>
              <a:t>Analysing the bank loan report by using various</a:t>
            </a:r>
            <a:endParaRPr kumimoji="0" lang="en-IN" altLang="en-US" sz="3000" b="1" i="0" u="none" strike="noStrike" cap="none" spc="0" normalizeH="0" baseline="0">
              <a:ln>
                <a:noFill/>
              </a:ln>
              <a:solidFill>
                <a:srgbClr val="000000"/>
              </a:solidFill>
              <a:effectLst/>
              <a:uFillTx/>
              <a:latin typeface="Times New Roman" panose="02020603050405020304" charset="0"/>
              <a:ea typeface="Helvetica Neue"/>
              <a:cs typeface="Times New Roman" panose="02020603050405020304" charset="0"/>
              <a:sym typeface="Helvetica Neue"/>
            </a:endParaRPr>
          </a:p>
          <a:p>
            <a:pPr marL="0" marR="0" indent="0" algn="ctr" defTabSz="825500" rtl="0" fontAlgn="auto" latinLnBrk="0" hangingPunct="0">
              <a:lnSpc>
                <a:spcPct val="100000"/>
              </a:lnSpc>
              <a:spcBef>
                <a:spcPts val="0"/>
              </a:spcBef>
              <a:spcAft>
                <a:spcPts val="0"/>
              </a:spcAft>
              <a:buClrTx/>
              <a:buSzTx/>
              <a:buFontTx/>
              <a:buNone/>
            </a:pPr>
            <a:r>
              <a:rPr kumimoji="0" lang="en-IN" altLang="en-US" sz="3000" b="1" i="0" u="none" strike="noStrike" cap="none" spc="0" normalizeH="0" baseline="0">
                <a:ln>
                  <a:noFill/>
                </a:ln>
                <a:solidFill>
                  <a:srgbClr val="000000"/>
                </a:solidFill>
                <a:effectLst/>
                <a:uFillTx/>
                <a:latin typeface="Times New Roman" panose="02020603050405020304" charset="0"/>
                <a:ea typeface="Helvetica Neue"/>
                <a:cs typeface="Times New Roman" panose="02020603050405020304" charset="0"/>
                <a:sym typeface="Helvetica Neue"/>
              </a:rPr>
              <a:t>tools, methods</a:t>
            </a:r>
            <a:endParaRPr kumimoji="0" lang="en-IN" altLang="en-US" sz="3000" b="1" i="0" u="none" strike="noStrike" cap="none" spc="0" normalizeH="0" baseline="0">
              <a:ln>
                <a:noFill/>
              </a:ln>
              <a:solidFill>
                <a:srgbClr val="000000"/>
              </a:solidFill>
              <a:effectLst/>
              <a:uFillTx/>
              <a:latin typeface="Times New Roman" panose="02020603050405020304" charset="0"/>
              <a:ea typeface="Helvetica Neue"/>
              <a:cs typeface="Times New Roman" panose="02020603050405020304" charset="0"/>
              <a:sym typeface="Helvetica Neue"/>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text slide"/>
          <p:cNvSpPr txBox="1"/>
          <p:nvPr/>
        </p:nvSpPr>
        <p:spPr>
          <a:xfrm>
            <a:off x="2394564" y="2220538"/>
            <a:ext cx="9112176" cy="1024890"/>
          </a:xfrm>
          <a:prstGeom prst="rect">
            <a:avLst/>
          </a:prstGeom>
          <a:ln w="12700">
            <a:miter lim="400000"/>
          </a:ln>
        </p:spPr>
        <p:txBody>
          <a:bodyPr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IN" sz="6000">
                <a:latin typeface="Times New Roman" panose="02020603050405020304" charset="0"/>
                <a:ea typeface="Calibri" panose="020F0502020204030204" charset="0"/>
                <a:cs typeface="Times New Roman" panose="02020603050405020304" charset="0"/>
              </a:rPr>
              <a:t>PROBLEM STATEMENT</a:t>
            </a:r>
            <a:endParaRPr lang="en-IN" sz="6000">
              <a:latin typeface="Times New Roman" panose="02020603050405020304" charset="0"/>
              <a:ea typeface="Calibri" panose="020F0502020204030204" charset="0"/>
              <a:cs typeface="Times New Roman" panose="02020603050405020304" charset="0"/>
            </a:endParaRP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p:cNvSpPr txBox="1"/>
          <p:nvPr/>
        </p:nvSpPr>
        <p:spPr>
          <a:xfrm>
            <a:off x="2451100" y="4657090"/>
            <a:ext cx="19227800" cy="6838950"/>
          </a:xfrm>
          <a:prstGeom prst="rect">
            <a:avLst/>
          </a:prstGeom>
          <a:ln w="12700">
            <a:miter lim="400000"/>
          </a:ln>
        </p:spPr>
        <p:txBody>
          <a:bodyPr lIns="50800" tIns="50800" rIns="50800" bIns="50800">
            <a:noAutofit/>
          </a:bodyPr>
          <a:lstStyle/>
          <a:p>
            <a:pPr algn="just">
              <a:lnSpc>
                <a:spcPct val="120000"/>
              </a:lnSpc>
              <a:spcBef>
                <a:spcPts val="2000"/>
              </a:spcBef>
              <a:defRPr sz="2600" b="0">
                <a:solidFill>
                  <a:srgbClr val="646979"/>
                </a:solidFill>
                <a:latin typeface="Open Sans"/>
                <a:ea typeface="Open Sans"/>
                <a:cs typeface="Open Sans"/>
                <a:sym typeface="Open Sans"/>
              </a:defRPr>
            </a:pPr>
            <a:r>
              <a:rPr lang="en-US" altLang="en-US" sz="5400">
                <a:latin typeface="Times New Roman" panose="02020603050405020304" charset="0"/>
                <a:ea typeface="Calibri" panose="020F0502020204030204" charset="0"/>
                <a:cs typeface="Times New Roman" panose="02020603050405020304" charset="0"/>
              </a:rPr>
              <a:t>In order to monitor and assess our bank's lending activities and performance, we need to create a comprehensive Bank Loan Report. This report aims to provide insights into key loan-related metrics and their changes over time. The report will help us make data-driven decisions, track our loan portfolio's health, and identify trends that can inform our lending strategies.</a:t>
            </a:r>
            <a:endParaRPr lang="en-US" altLang="en-US" sz="5400">
              <a:latin typeface="Times New Roman" panose="02020603050405020304" charset="0"/>
              <a:ea typeface="Calibri" panose="020F0502020204030204" charset="0"/>
              <a:cs typeface="Times New Roman" panose="02020603050405020304" charset="0"/>
            </a:endParaRPr>
          </a:p>
        </p:txBody>
      </p:sp>
      <p:sp>
        <p:nvSpPr>
          <p:cNvPr id="48" name="Фигура"/>
          <p:cNvSpPr/>
          <p:nvPr/>
        </p:nvSpPr>
        <p:spPr>
          <a:xfrm>
            <a:off x="2476369" y="3383585"/>
            <a:ext cx="1576918" cy="560673"/>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Numbered List"/>
          <p:cNvSpPr txBox="1"/>
          <p:nvPr/>
        </p:nvSpPr>
        <p:spPr>
          <a:xfrm>
            <a:off x="7635875" y="1659890"/>
            <a:ext cx="9112250" cy="1578610"/>
          </a:xfrm>
          <a:prstGeom prst="rect">
            <a:avLst/>
          </a:prstGeom>
          <a:noFill/>
          <a:ln w="12700" cap="flat">
            <a:noFill/>
            <a:miter lim="400000"/>
          </a:ln>
          <a:effectLst/>
        </p:spPr>
        <p:txBody>
          <a:bodyPr wrap="square" lIns="50800" tIns="50800" rIns="50800" bIns="50800" numCol="1" anchor="ctr">
            <a:spAutoFit/>
          </a:bodyPr>
          <a:lstStyle>
            <a:lvl1pPr>
              <a:defRPr sz="8000" b="0">
                <a:solidFill>
                  <a:srgbClr val="31333D"/>
                </a:solidFill>
                <a:latin typeface="Maven Pro Medium"/>
                <a:ea typeface="Maven Pro Medium"/>
                <a:cs typeface="Maven Pro Medium"/>
                <a:sym typeface="Maven Pro Medium"/>
              </a:defRPr>
            </a:lvl1pPr>
          </a:lstStyle>
          <a:p>
            <a:r>
              <a:rPr lang="en-US" altLang="zh-CN" sz="9600">
                <a:latin typeface="Times New Roman" panose="02020603050405020304" charset="0"/>
                <a:ea typeface="Calibri" panose="020F0502020204030204" charset="0"/>
                <a:cs typeface="Times New Roman" panose="02020603050405020304" charset="0"/>
              </a:rPr>
              <a:t>CONTENT</a:t>
            </a:r>
            <a:endParaRPr lang="en-US" altLang="zh-CN" sz="9600">
              <a:latin typeface="Times New Roman" panose="02020603050405020304" charset="0"/>
              <a:ea typeface="Calibri" panose="020F0502020204030204" charset="0"/>
              <a:cs typeface="Times New Roman" panose="02020603050405020304" charset="0"/>
            </a:endParaRPr>
          </a:p>
        </p:txBody>
      </p:sp>
      <p:sp>
        <p:nvSpPr>
          <p:cNvPr id="83" name="Фигура"/>
          <p:cNvSpPr/>
          <p:nvPr/>
        </p:nvSpPr>
        <p:spPr>
          <a:xfrm>
            <a:off x="11337290" y="3161665"/>
            <a:ext cx="2240280" cy="914400"/>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dirty="0">
              <a:latin typeface="Calibri" panose="020F0502020204030204" charset="0"/>
              <a:ea typeface="Calibri" panose="020F0502020204030204" charset="0"/>
              <a:cs typeface="Calibri" panose="020F0502020204030204" charset="0"/>
            </a:endParaRPr>
          </a:p>
        </p:txBody>
      </p:sp>
      <p:grpSp>
        <p:nvGrpSpPr>
          <p:cNvPr id="87" name="Группа"/>
          <p:cNvGrpSpPr/>
          <p:nvPr>
            <p:custDataLst>
              <p:tags r:id="rId1"/>
            </p:custDataLst>
          </p:nvPr>
        </p:nvGrpSpPr>
        <p:grpSpPr>
          <a:xfrm rot="0">
            <a:off x="3396615" y="4343455"/>
            <a:ext cx="9291321" cy="3521710"/>
            <a:chOff x="0" y="-101536"/>
            <a:chExt cx="9291510" cy="3521413"/>
          </a:xfrm>
        </p:grpSpPr>
        <p:sp>
          <p:nvSpPr>
            <p:cNvPr id="84" name="Кружок"/>
            <p:cNvSpPr/>
            <p:nvPr>
              <p:custDataLst>
                <p:tags r:id="rId2"/>
              </p:custDataLst>
            </p:nvPr>
          </p:nvSpPr>
          <p:spPr>
            <a:xfrm>
              <a:off x="217174" y="-101536"/>
              <a:ext cx="3335723" cy="3521413"/>
            </a:xfrm>
            <a:prstGeom prst="ellipse">
              <a:avLst/>
            </a:prstGeom>
            <a:solidFill>
              <a:srgbClr val="FFFFF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85" name="01"/>
            <p:cNvSpPr txBox="1"/>
            <p:nvPr>
              <p:custDataLst>
                <p:tags r:id="rId3"/>
              </p:custDataLst>
            </p:nvPr>
          </p:nvSpPr>
          <p:spPr>
            <a:xfrm>
              <a:off x="0" y="-79948"/>
              <a:ext cx="2167657" cy="1455297"/>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sz="8800" b="1">
                  <a:latin typeface="Calibri" panose="020F0502020204030204" charset="0"/>
                  <a:ea typeface="Calibri" panose="020F0502020204030204" charset="0"/>
                  <a:cs typeface="Calibri" panose="020F0502020204030204" charset="0"/>
                </a:rPr>
                <a:t>01</a:t>
              </a:r>
              <a:endParaRPr sz="8800" b="1">
                <a:latin typeface="Calibri" panose="020F0502020204030204" charset="0"/>
                <a:ea typeface="Calibri" panose="020F0502020204030204" charset="0"/>
                <a:cs typeface="Calibri" panose="020F0502020204030204" charset="0"/>
              </a:endParaRPr>
            </a:p>
          </p:txBody>
        </p:sp>
        <p:sp>
          <p:nvSpPr>
            <p:cNvPr id="86" name="Lorem ipsum dolor sit amet, consectetur adipiscing elit, sed do eiusmod tempor incididunt ut labore et quis nostrud exercitation ullamco laboris nisi ut"/>
            <p:cNvSpPr txBox="1"/>
            <p:nvPr>
              <p:custDataLst>
                <p:tags r:id="rId4"/>
              </p:custDataLst>
            </p:nvPr>
          </p:nvSpPr>
          <p:spPr>
            <a:xfrm>
              <a:off x="1161705" y="1104900"/>
              <a:ext cx="8129805" cy="1430535"/>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IN" sz="7200" b="1">
                  <a:latin typeface="Calibri" panose="020F0502020204030204" charset="0"/>
                  <a:ea typeface="Calibri" panose="020F0502020204030204" charset="0"/>
                  <a:cs typeface="Calibri" panose="020F0502020204030204" charset="0"/>
                  <a:sym typeface="+mn-ea"/>
                </a:rPr>
                <a:t>SUMMARY</a:t>
              </a:r>
              <a:endParaRPr lang="en-IN" sz="7200" b="1">
                <a:latin typeface="Calibri" panose="020F0502020204030204" charset="0"/>
                <a:ea typeface="Calibri" panose="020F0502020204030204" charset="0"/>
                <a:cs typeface="Calibri" panose="020F0502020204030204" charset="0"/>
                <a:sym typeface="+mn-ea"/>
              </a:endParaRPr>
            </a:p>
          </p:txBody>
        </p:sp>
      </p:grpSp>
      <p:grpSp>
        <p:nvGrpSpPr>
          <p:cNvPr id="91" name="Группа"/>
          <p:cNvGrpSpPr/>
          <p:nvPr>
            <p:custDataLst>
              <p:tags r:id="rId5"/>
            </p:custDataLst>
          </p:nvPr>
        </p:nvGrpSpPr>
        <p:grpSpPr>
          <a:xfrm rot="0">
            <a:off x="3413125" y="8454445"/>
            <a:ext cx="9291321" cy="3500120"/>
            <a:chOff x="0" y="-79948"/>
            <a:chExt cx="9291510" cy="3499825"/>
          </a:xfrm>
        </p:grpSpPr>
        <p:sp>
          <p:nvSpPr>
            <p:cNvPr id="88" name="Кружок"/>
            <p:cNvSpPr/>
            <p:nvPr>
              <p:custDataLst>
                <p:tags r:id="rId6"/>
              </p:custDataLst>
            </p:nvPr>
          </p:nvSpPr>
          <p:spPr>
            <a:xfrm>
              <a:off x="217174" y="-46931"/>
              <a:ext cx="3335723" cy="3466808"/>
            </a:xfrm>
            <a:prstGeom prst="ellipse">
              <a:avLst/>
            </a:prstGeom>
            <a:solidFill>
              <a:srgbClr val="FFFFF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89" name="02"/>
            <p:cNvSpPr txBox="1"/>
            <p:nvPr>
              <p:custDataLst>
                <p:tags r:id="rId7"/>
              </p:custDataLst>
            </p:nvPr>
          </p:nvSpPr>
          <p:spPr>
            <a:xfrm>
              <a:off x="0" y="-79948"/>
              <a:ext cx="2167657" cy="1455297"/>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sz="8800" b="1">
                  <a:latin typeface="Calibri" panose="020F0502020204030204" charset="0"/>
                  <a:ea typeface="Calibri" panose="020F0502020204030204" charset="0"/>
                  <a:cs typeface="Calibri" panose="020F0502020204030204" charset="0"/>
                </a:rPr>
                <a:t>02</a:t>
              </a:r>
              <a:endParaRPr sz="8800" b="1">
                <a:latin typeface="Calibri" panose="020F0502020204030204" charset="0"/>
                <a:ea typeface="Calibri" panose="020F0502020204030204" charset="0"/>
                <a:cs typeface="Calibri" panose="020F0502020204030204" charset="0"/>
              </a:endParaRPr>
            </a:p>
          </p:txBody>
        </p:sp>
        <p:sp>
          <p:nvSpPr>
            <p:cNvPr id="90" name="Lorem ipsum dolor sit amet, consectetur adipiscing elit, sed do eiusmod tempor incididunt ut labore et quis nostrud exercitation ullamco laboris nisi ut"/>
            <p:cNvSpPr txBox="1"/>
            <p:nvPr>
              <p:custDataLst>
                <p:tags r:id="rId8"/>
              </p:custDataLst>
            </p:nvPr>
          </p:nvSpPr>
          <p:spPr>
            <a:xfrm>
              <a:off x="1161705" y="1104900"/>
              <a:ext cx="8129805" cy="1430535"/>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IN" sz="7200" b="1">
                  <a:latin typeface="Calibri" panose="020F0502020204030204" charset="0"/>
                  <a:ea typeface="Calibri" panose="020F0502020204030204" charset="0"/>
                  <a:cs typeface="Calibri" panose="020F0502020204030204" charset="0"/>
                </a:rPr>
                <a:t>OVERVIEW</a:t>
              </a:r>
              <a:endParaRPr lang="en-IN" sz="7200" b="1">
                <a:latin typeface="Calibri" panose="020F0502020204030204" charset="0"/>
                <a:ea typeface="Calibri" panose="020F0502020204030204" charset="0"/>
                <a:cs typeface="Calibri" panose="020F0502020204030204" charset="0"/>
              </a:endParaRPr>
            </a:p>
          </p:txBody>
        </p:sp>
      </p:grpSp>
      <p:grpSp>
        <p:nvGrpSpPr>
          <p:cNvPr id="95" name="Группа"/>
          <p:cNvGrpSpPr/>
          <p:nvPr>
            <p:custDataLst>
              <p:tags r:id="rId9"/>
            </p:custDataLst>
          </p:nvPr>
        </p:nvGrpSpPr>
        <p:grpSpPr>
          <a:xfrm rot="0">
            <a:off x="13161645" y="5991280"/>
            <a:ext cx="9291321" cy="3537585"/>
            <a:chOff x="0" y="-117410"/>
            <a:chExt cx="9291510" cy="3537287"/>
          </a:xfrm>
        </p:grpSpPr>
        <p:sp>
          <p:nvSpPr>
            <p:cNvPr id="92" name="Кружок"/>
            <p:cNvSpPr/>
            <p:nvPr>
              <p:custDataLst>
                <p:tags r:id="rId10"/>
              </p:custDataLst>
            </p:nvPr>
          </p:nvSpPr>
          <p:spPr>
            <a:xfrm>
              <a:off x="217174" y="-117410"/>
              <a:ext cx="3574488" cy="3537287"/>
            </a:xfrm>
            <a:prstGeom prst="ellipse">
              <a:avLst/>
            </a:prstGeom>
            <a:solidFill>
              <a:srgbClr val="FFFFF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93" name="03"/>
            <p:cNvSpPr txBox="1"/>
            <p:nvPr>
              <p:custDataLst>
                <p:tags r:id="rId11"/>
              </p:custDataLst>
            </p:nvPr>
          </p:nvSpPr>
          <p:spPr>
            <a:xfrm>
              <a:off x="0" y="-79948"/>
              <a:ext cx="2167657" cy="1455297"/>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sz="8800" b="1">
                  <a:latin typeface="Calibri" panose="020F0502020204030204" charset="0"/>
                  <a:ea typeface="Calibri" panose="020F0502020204030204" charset="0"/>
                  <a:cs typeface="Calibri" panose="020F0502020204030204" charset="0"/>
                </a:rPr>
                <a:t>03</a:t>
              </a:r>
              <a:endParaRPr sz="8800" b="1">
                <a:latin typeface="Calibri" panose="020F0502020204030204" charset="0"/>
                <a:ea typeface="Calibri" panose="020F0502020204030204" charset="0"/>
                <a:cs typeface="Calibri" panose="020F0502020204030204" charset="0"/>
              </a:endParaRPr>
            </a:p>
          </p:txBody>
        </p:sp>
        <p:sp>
          <p:nvSpPr>
            <p:cNvPr id="94" name="Lorem ipsum dolor sit amet, consectetur adipiscing elit, sed do eiusmod tempor incididunt ut labore et quis nostrud exercitation ullamco laboris nisi ut"/>
            <p:cNvSpPr txBox="1"/>
            <p:nvPr>
              <p:custDataLst>
                <p:tags r:id="rId12"/>
              </p:custDataLst>
            </p:nvPr>
          </p:nvSpPr>
          <p:spPr>
            <a:xfrm>
              <a:off x="1161705" y="1104900"/>
              <a:ext cx="8129805" cy="1430535"/>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IN" sz="7200" b="1">
                  <a:latin typeface="Calibri" panose="020F0502020204030204" charset="0"/>
                  <a:ea typeface="Calibri" panose="020F0502020204030204" charset="0"/>
                  <a:cs typeface="Calibri" panose="020F0502020204030204" charset="0"/>
                </a:rPr>
                <a:t>DETAILS</a:t>
              </a:r>
              <a:endParaRPr lang="en-IN" sz="7200" b="1">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Кружок"/>
          <p:cNvSpPr/>
          <p:nvPr/>
        </p:nvSpPr>
        <p:spPr>
          <a:xfrm>
            <a:off x="-3273475" y="-73075"/>
            <a:ext cx="18942150" cy="18942150"/>
          </a:xfrm>
          <a:prstGeom prst="ellipse">
            <a:avLst/>
          </a:prstGeom>
          <a:solidFill>
            <a:schemeClr val="accent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1" name="Кружок"/>
          <p:cNvSpPr/>
          <p:nvPr/>
        </p:nvSpPr>
        <p:spPr>
          <a:xfrm>
            <a:off x="1346795" y="4547195"/>
            <a:ext cx="9701610" cy="970161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2" name="Кружок"/>
          <p:cNvSpPr/>
          <p:nvPr/>
        </p:nvSpPr>
        <p:spPr>
          <a:xfrm>
            <a:off x="3761531" y="7011461"/>
            <a:ext cx="4872138" cy="4872138"/>
          </a:xfrm>
          <a:prstGeom prst="ellipse">
            <a:avLst/>
          </a:prstGeom>
          <a:solidFill>
            <a:schemeClr val="accent3">
              <a:lumMod val="20000"/>
              <a:lumOff val="80000"/>
            </a:scheme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3"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01</a:t>
            </a:r>
            <a:endParaRPr lang="en-US" altLang="zh-CN" sz="22400">
              <a:latin typeface="Microsoft YaHei Light" panose="020B0502040204020203" charset="-122"/>
              <a:ea typeface="Microsoft YaHei Light" panose="020B0502040204020203" charset="-122"/>
              <a:cs typeface="Calibri" panose="020F0502020204030204" charset="0"/>
            </a:endParaRPr>
          </a:p>
        </p:txBody>
      </p:sp>
      <p:grpSp>
        <p:nvGrpSpPr>
          <p:cNvPr id="56" name="Группа"/>
          <p:cNvGrpSpPr/>
          <p:nvPr/>
        </p:nvGrpSpPr>
        <p:grpSpPr>
          <a:xfrm>
            <a:off x="5684440" y="8884840"/>
            <a:ext cx="1026320" cy="1026320"/>
            <a:chOff x="0" y="0"/>
            <a:chExt cx="1026318" cy="1026318"/>
          </a:xfrm>
        </p:grpSpPr>
        <p:sp>
          <p:nvSpPr>
            <p:cNvPr id="54"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5"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lstStyle/>
            <a:p>
              <a:pPr algn="l" defTabSz="914400">
                <a:defRPr sz="1800" b="0">
                  <a:latin typeface="Roboto"/>
                  <a:ea typeface="Roboto"/>
                  <a:cs typeface="Roboto"/>
                  <a:sym typeface="Roboto"/>
                </a:defRPr>
              </a:pPr>
              <a:endParaRPr>
                <a:latin typeface="Calibri" panose="020F0502020204030204" charset="0"/>
                <a:ea typeface="Calibri" panose="020F0502020204030204" charset="0"/>
                <a:cs typeface="Calibri" panose="020F0502020204030204" charset="0"/>
              </a:endParaRPr>
            </a:p>
          </p:txBody>
        </p:sp>
      </p:grpSp>
      <p:grpSp>
        <p:nvGrpSpPr>
          <p:cNvPr id="76" name="Группа"/>
          <p:cNvGrpSpPr/>
          <p:nvPr/>
        </p:nvGrpSpPr>
        <p:grpSpPr>
          <a:xfrm>
            <a:off x="14323231" y="5417157"/>
            <a:ext cx="8910320" cy="3023870"/>
            <a:chOff x="0" y="-80009"/>
            <a:chExt cx="8910318" cy="3023870"/>
          </a:xfrm>
        </p:grpSpPr>
        <p:sp>
          <p:nvSpPr>
            <p:cNvPr id="74" name="Title text slide"/>
            <p:cNvSpPr txBox="1"/>
            <p:nvPr/>
          </p:nvSpPr>
          <p:spPr>
            <a:xfrm>
              <a:off x="0" y="-80009"/>
              <a:ext cx="7611387" cy="1455420"/>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lang="en-IN" sz="8800">
                  <a:latin typeface="Calibri" panose="020F0502020204030204" charset="0"/>
                  <a:ea typeface="Calibri" panose="020F0502020204030204" charset="0"/>
                  <a:cs typeface="Calibri" panose="020F0502020204030204" charset="0"/>
                </a:rPr>
                <a:t>SUMMARY</a:t>
              </a:r>
              <a:endParaRPr lang="en-IN" sz="8800">
                <a:latin typeface="Calibri" panose="020F0502020204030204" charset="0"/>
                <a:ea typeface="Calibri" panose="020F0502020204030204" charset="0"/>
                <a:cs typeface="Calibri" panose="020F0502020204030204" charset="0"/>
              </a:endParaRPr>
            </a:p>
          </p:txBody>
        </p:sp>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56515" y="1661161"/>
              <a:ext cx="8853803" cy="1282700"/>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IN" sz="3200">
                  <a:latin typeface="Calibri" panose="020F0502020204030204" charset="0"/>
                  <a:ea typeface="Calibri" panose="020F0502020204030204" charset="0"/>
                  <a:cs typeface="Calibri" panose="020F0502020204030204" charset="0"/>
                </a:rPr>
                <a:t>Initial overall process and Good loan and Bad laon Ranges</a:t>
              </a:r>
              <a:endParaRPr lang="en-IN" sz="3200">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1432560" y="3553460"/>
            <a:ext cx="21362035" cy="8256270"/>
          </a:xfrm>
          <a:prstGeom prst="rect">
            <a:avLst/>
          </a:prstGeom>
          <a:noFill/>
          <a:ln w="12700" cap="flat">
            <a:noFill/>
            <a:miter lim="400000"/>
          </a:ln>
          <a:effectLst/>
        </p:spPr>
        <p:txBody>
          <a:bodyPr wrap="square" lIns="50800" tIns="50800" rIns="50800" bIns="50800" numCol="1" anchor="t">
            <a:no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altLang="en-US" sz="3200" b="1">
                <a:latin typeface="Calibri" panose="020F0502020204030204" charset="0"/>
                <a:ea typeface="Calibri" panose="020F0502020204030204" charset="0"/>
                <a:cs typeface="Calibri" panose="020F0502020204030204" charset="0"/>
              </a:rPr>
              <a:t>1.Total Loan Applications:</a:t>
            </a:r>
            <a:r>
              <a:rPr lang="en-US" altLang="en-US" sz="3200">
                <a:latin typeface="Calibri" panose="020F0502020204030204" charset="0"/>
                <a:ea typeface="Calibri" panose="020F0502020204030204" charset="0"/>
                <a:cs typeface="Calibri" panose="020F0502020204030204" charset="0"/>
              </a:rPr>
              <a:t> We need to calculate the total number of loan applications received during a specified period. Additionally, it is essential to monitor the Month-to-Date (MTD) Loan Applications and track changes Month-over-Month (MoM).</a:t>
            </a:r>
            <a:endParaRPr lang="en-US" altLang="en-US" sz="3200">
              <a:latin typeface="Calibri" panose="020F0502020204030204" charset="0"/>
              <a:ea typeface="Calibri" panose="020F0502020204030204" charset="0"/>
              <a:cs typeface="Calibri" panose="020F0502020204030204" charset="0"/>
            </a:endParaRPr>
          </a:p>
          <a:p>
            <a:r>
              <a:rPr lang="en-US" altLang="en-US" sz="3200" b="1">
                <a:latin typeface="Calibri" panose="020F0502020204030204" charset="0"/>
                <a:ea typeface="Calibri" panose="020F0502020204030204" charset="0"/>
                <a:cs typeface="Calibri" panose="020F0502020204030204" charset="0"/>
              </a:rPr>
              <a:t>2.Total Funded Amount:</a:t>
            </a:r>
            <a:r>
              <a:rPr lang="en-US" altLang="en-US" sz="3200">
                <a:latin typeface="Calibri" panose="020F0502020204030204" charset="0"/>
                <a:ea typeface="Calibri" panose="020F0502020204030204" charset="0"/>
                <a:cs typeface="Calibri" panose="020F0502020204030204" charset="0"/>
              </a:rPr>
              <a:t> Understanding the total amount of funds disbursed as loans is crucial. We also want to keep an eye on the MTD Total Funded Amount and analyse the Month-over-Month (MoM) changes in this metric.</a:t>
            </a:r>
            <a:endParaRPr lang="en-US" altLang="en-US" sz="3200">
              <a:latin typeface="Calibri" panose="020F0502020204030204" charset="0"/>
              <a:ea typeface="Calibri" panose="020F0502020204030204" charset="0"/>
              <a:cs typeface="Calibri" panose="020F0502020204030204" charset="0"/>
            </a:endParaRPr>
          </a:p>
          <a:p>
            <a:r>
              <a:rPr lang="en-US" altLang="en-US" sz="3200" b="1">
                <a:latin typeface="Calibri" panose="020F0502020204030204" charset="0"/>
                <a:ea typeface="Calibri" panose="020F0502020204030204" charset="0"/>
                <a:cs typeface="Calibri" panose="020F0502020204030204" charset="0"/>
              </a:rPr>
              <a:t>3.Total Amount Received:</a:t>
            </a:r>
            <a:r>
              <a:rPr lang="en-US" altLang="en-US" sz="3200">
                <a:latin typeface="Calibri" panose="020F0502020204030204" charset="0"/>
                <a:ea typeface="Calibri" panose="020F0502020204030204" charset="0"/>
                <a:cs typeface="Calibri" panose="020F0502020204030204" charset="0"/>
              </a:rPr>
              <a:t> Tracking the total amount received from borrowers is essential for assessing the bank's cash flow and loan repayment. We should analyse the Month-to-Date (MTD) Total Amount Received and observe the Month-over-Month (MoM) changes.</a:t>
            </a:r>
            <a:endParaRPr lang="en-US" altLang="en-US" sz="3200">
              <a:latin typeface="Calibri" panose="020F0502020204030204" charset="0"/>
              <a:ea typeface="Calibri" panose="020F0502020204030204" charset="0"/>
              <a:cs typeface="Calibri" panose="020F0502020204030204" charset="0"/>
            </a:endParaRPr>
          </a:p>
          <a:p>
            <a:r>
              <a:rPr lang="en-US" altLang="en-US" sz="3200" b="1">
                <a:latin typeface="Calibri" panose="020F0502020204030204" charset="0"/>
                <a:ea typeface="Calibri" panose="020F0502020204030204" charset="0"/>
                <a:cs typeface="Calibri" panose="020F0502020204030204" charset="0"/>
              </a:rPr>
              <a:t>4.Average Interest Rate:</a:t>
            </a:r>
            <a:r>
              <a:rPr lang="en-US" altLang="en-US" sz="3200">
                <a:latin typeface="Calibri" panose="020F0502020204030204" charset="0"/>
                <a:ea typeface="Calibri" panose="020F0502020204030204" charset="0"/>
                <a:cs typeface="Calibri" panose="020F0502020204030204" charset="0"/>
              </a:rPr>
              <a:t> Calculating the average interest rate across all loans, MTD, and monitoring the Month-over-Month (MoM) variations in interest rates will provide insights into our lending portfolio's overall cost.</a:t>
            </a:r>
            <a:endParaRPr lang="en-US" altLang="en-US" sz="3200">
              <a:latin typeface="Calibri" panose="020F0502020204030204" charset="0"/>
              <a:ea typeface="Calibri" panose="020F0502020204030204" charset="0"/>
              <a:cs typeface="Calibri" panose="020F0502020204030204" charset="0"/>
            </a:endParaRPr>
          </a:p>
          <a:p>
            <a:r>
              <a:rPr lang="en-US" altLang="en-US" sz="3200" b="1">
                <a:latin typeface="Calibri" panose="020F0502020204030204" charset="0"/>
                <a:ea typeface="Calibri" panose="020F0502020204030204" charset="0"/>
                <a:cs typeface="Calibri" panose="020F0502020204030204" charset="0"/>
              </a:rPr>
              <a:t>5.Average Debt-to-Income Ratio (DTI):</a:t>
            </a:r>
            <a:r>
              <a:rPr lang="en-US" altLang="en-US" sz="3200">
                <a:latin typeface="Calibri" panose="020F0502020204030204" charset="0"/>
                <a:ea typeface="Calibri" panose="020F0502020204030204" charset="0"/>
                <a:cs typeface="Calibri" panose="020F0502020204030204" charset="0"/>
              </a:rPr>
              <a:t> Evaluating the average DTI for our borrowers helps us gauge their financial health. We need to compute the average DTI for all loans, MTD, and track Month-over-Month (MoM) fluctuations.</a:t>
            </a:r>
            <a:endParaRPr lang="en-US" altLang="en-US" sz="3200">
              <a:latin typeface="Calibri" panose="020F0502020204030204" charset="0"/>
              <a:ea typeface="Calibri" panose="020F0502020204030204" charset="0"/>
              <a:cs typeface="Calibri" panose="020F0502020204030204" charset="0"/>
            </a:endParaRPr>
          </a:p>
        </p:txBody>
      </p:sp>
      <p:sp>
        <p:nvSpPr>
          <p:cNvPr id="82" name="Numbered List"/>
          <p:cNvSpPr txBox="1"/>
          <p:nvPr/>
        </p:nvSpPr>
        <p:spPr>
          <a:xfrm>
            <a:off x="7635875" y="1307784"/>
            <a:ext cx="9112250" cy="840105"/>
          </a:xfrm>
          <a:prstGeom prst="rect">
            <a:avLst/>
          </a:prstGeom>
          <a:noFill/>
          <a:ln w="12700" cap="flat">
            <a:noFill/>
            <a:miter lim="400000"/>
          </a:ln>
          <a:effectLst/>
        </p:spPr>
        <p:txBody>
          <a:bodyPr wrap="square" lIns="50800" tIns="50800" rIns="50800" bIns="50800" numCol="1" anchor="ctr">
            <a:spAutoFit/>
          </a:bodyPr>
          <a:lstStyle>
            <a:lvl1pPr>
              <a:defRPr sz="8000" b="0">
                <a:solidFill>
                  <a:srgbClr val="31333D"/>
                </a:solidFill>
                <a:latin typeface="Maven Pro Medium"/>
                <a:ea typeface="Maven Pro Medium"/>
                <a:cs typeface="Maven Pro Medium"/>
                <a:sym typeface="Maven Pro Medium"/>
              </a:defRPr>
            </a:lvl1pPr>
          </a:lstStyle>
          <a:p>
            <a:r>
              <a:rPr lang="en-IN" altLang="zh-CN" sz="4800" b="1">
                <a:latin typeface="Times New Roman" panose="02020603050405020304" charset="0"/>
                <a:ea typeface="Calibri" panose="020F0502020204030204" charset="0"/>
                <a:cs typeface="Times New Roman" panose="02020603050405020304" charset="0"/>
              </a:rPr>
              <a:t>Key Performance Indicators</a:t>
            </a:r>
            <a:endParaRPr lang="en-IN" altLang="zh-CN" sz="4800" b="1">
              <a:latin typeface="Times New Roman" panose="02020603050405020304" charset="0"/>
              <a:ea typeface="Calibri" panose="020F0502020204030204" charset="0"/>
              <a:cs typeface="Times New Roman" panose="02020603050405020304" charset="0"/>
            </a:endParaRPr>
          </a:p>
        </p:txBody>
      </p:sp>
      <p:sp>
        <p:nvSpPr>
          <p:cNvPr id="83" name="Фигура"/>
          <p:cNvSpPr/>
          <p:nvPr/>
        </p:nvSpPr>
        <p:spPr>
          <a:xfrm>
            <a:off x="10422255" y="2192655"/>
            <a:ext cx="2768600" cy="636270"/>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dirty="0">
              <a:latin typeface="Calibri" panose="020F0502020204030204" charset="0"/>
              <a:ea typeface="Calibri" panose="020F0502020204030204" charset="0"/>
              <a:cs typeface="Calibri" panose="020F0502020204030204"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1432560" y="3553460"/>
            <a:ext cx="21362035" cy="9072880"/>
          </a:xfrm>
          <a:prstGeom prst="rect">
            <a:avLst/>
          </a:prstGeom>
          <a:noFill/>
          <a:ln w="12700" cap="flat">
            <a:noFill/>
            <a:miter lim="400000"/>
          </a:ln>
          <a:effectLst/>
        </p:spPr>
        <p:txBody>
          <a:bodyPr wrap="square" lIns="50800" tIns="50800" rIns="50800" bIns="50800" numCol="1" anchor="t">
            <a:no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lnSpc>
                <a:spcPct val="80000"/>
              </a:lnSpc>
            </a:pPr>
            <a:r>
              <a:rPr lang="en-US" altLang="en-US" sz="3200" b="1">
                <a:latin typeface="Calibri" panose="020F0502020204030204" charset="0"/>
                <a:ea typeface="Calibri" panose="020F0502020204030204" charset="0"/>
                <a:cs typeface="Calibri" panose="020F0502020204030204" charset="0"/>
              </a:rPr>
              <a:t>Percentage of Good Loan Applications:</a:t>
            </a:r>
            <a:endParaRPr lang="en-US" altLang="en-US" sz="3200" b="1">
              <a:latin typeface="Calibri" panose="020F0502020204030204" charset="0"/>
              <a:ea typeface="Calibri" panose="020F0502020204030204" charset="0"/>
              <a:cs typeface="Calibri" panose="020F0502020204030204" charset="0"/>
            </a:endParaRPr>
          </a:p>
          <a:p>
            <a:pPr>
              <a:lnSpc>
                <a:spcPct val="100000"/>
              </a:lnSpc>
            </a:pPr>
            <a:r>
              <a:rPr lang="en-US" altLang="en-US" sz="3200">
                <a:latin typeface="Calibri" panose="020F0502020204030204" charset="0"/>
                <a:ea typeface="Calibri" panose="020F0502020204030204" charset="0"/>
                <a:cs typeface="Calibri" panose="020F0502020204030204" charset="0"/>
              </a:rPr>
              <a:t>Calculate the proportion of loan applications classified as Good Loans. This group includes loans with a status of “Fully Paid” or “Current.”</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Number of Good Loan Applications:</a:t>
            </a:r>
            <a:endParaRPr lang="en-US" altLang="en-US" sz="3200" b="1">
              <a:latin typeface="Calibri" panose="020F0502020204030204" charset="0"/>
              <a:ea typeface="Calibri" panose="020F0502020204030204" charset="0"/>
              <a:cs typeface="Calibri" panose="020F0502020204030204" charset="0"/>
            </a:endParaRPr>
          </a:p>
          <a:p>
            <a:pPr>
              <a:lnSpc>
                <a:spcPct val="100000"/>
              </a:lnSpc>
            </a:pPr>
            <a:r>
              <a:rPr lang="en-US" altLang="en-US" sz="3200">
                <a:latin typeface="Calibri" panose="020F0502020204030204" charset="0"/>
                <a:ea typeface="Calibri" panose="020F0502020204030204" charset="0"/>
                <a:cs typeface="Calibri" panose="020F0502020204030204" charset="0"/>
              </a:rPr>
              <a:t>Determine the total count of loan applications that fall under the Good Loan category, which consists of loans marked as “Fully Paid” or “Current.”</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Total Funded Amount for Good Loans:</a:t>
            </a:r>
            <a:endParaRPr lang="en-US" altLang="en-US" sz="3200" b="1">
              <a:latin typeface="Calibri" panose="020F0502020204030204" charset="0"/>
              <a:ea typeface="Calibri" panose="020F0502020204030204" charset="0"/>
              <a:cs typeface="Calibri" panose="020F0502020204030204" charset="0"/>
            </a:endParaRPr>
          </a:p>
          <a:p>
            <a:pPr>
              <a:lnSpc>
                <a:spcPct val="100000"/>
              </a:lnSpc>
            </a:pPr>
            <a:r>
              <a:rPr lang="en-US" altLang="en-US" sz="3200">
                <a:latin typeface="Calibri" panose="020F0502020204030204" charset="0"/>
                <a:ea typeface="Calibri" panose="020F0502020204030204" charset="0"/>
                <a:cs typeface="Calibri" panose="020F0502020204030204" charset="0"/>
              </a:rPr>
              <a:t>Compute the total value of funds issued as Good Loans, covering the principal amounts of loans with statuses “Fully Paid” and “Current.”</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Total Amount Received from Good Loans:</a:t>
            </a:r>
            <a:endParaRPr lang="en-US" altLang="en-US" sz="3200" b="1">
              <a:latin typeface="Calibri" panose="020F0502020204030204" charset="0"/>
              <a:ea typeface="Calibri" panose="020F0502020204030204" charset="0"/>
              <a:cs typeface="Calibri" panose="020F0502020204030204" charset="0"/>
            </a:endParaRPr>
          </a:p>
          <a:p>
            <a:pPr>
              <a:lnSpc>
                <a:spcPct val="100000"/>
              </a:lnSpc>
            </a:pPr>
            <a:r>
              <a:rPr lang="en-US" altLang="en-US" sz="3200">
                <a:latin typeface="Calibri" panose="020F0502020204030204" charset="0"/>
                <a:ea typeface="Calibri" panose="020F0502020204030204" charset="0"/>
                <a:cs typeface="Calibri" panose="020F0502020204030204" charset="0"/>
              </a:rPr>
              <a:t>Measure the total payments collected from borrowers for Good Loans, including all repayments made on loans with statuses “Fully Paid” and “Current.”</a:t>
            </a:r>
            <a:endParaRPr lang="en-US" altLang="en-US" sz="3200">
              <a:latin typeface="Calibri" panose="020F0502020204030204" charset="0"/>
              <a:ea typeface="Calibri" panose="020F0502020204030204" charset="0"/>
              <a:cs typeface="Calibri" panose="020F0502020204030204" charset="0"/>
            </a:endParaRPr>
          </a:p>
          <a:p>
            <a:pPr>
              <a:lnSpc>
                <a:spcPct val="80000"/>
              </a:lnSpc>
            </a:pPr>
            <a:endParaRPr lang="en-US" altLang="en-US" sz="3200">
              <a:latin typeface="Calibri" panose="020F0502020204030204" charset="0"/>
              <a:ea typeface="Calibri" panose="020F0502020204030204" charset="0"/>
              <a:cs typeface="Calibri" panose="020F0502020204030204" charset="0"/>
            </a:endParaRPr>
          </a:p>
          <a:p>
            <a:pPr>
              <a:lnSpc>
                <a:spcPct val="80000"/>
              </a:lnSpc>
            </a:pPr>
            <a:endParaRPr lang="en-US" altLang="en-US" sz="3200">
              <a:latin typeface="Calibri" panose="020F0502020204030204" charset="0"/>
              <a:ea typeface="Calibri" panose="020F0502020204030204" charset="0"/>
              <a:cs typeface="Calibri" panose="020F0502020204030204" charset="0"/>
            </a:endParaRPr>
          </a:p>
        </p:txBody>
      </p:sp>
      <p:sp>
        <p:nvSpPr>
          <p:cNvPr id="82" name="Numbered List"/>
          <p:cNvSpPr txBox="1"/>
          <p:nvPr/>
        </p:nvSpPr>
        <p:spPr>
          <a:xfrm>
            <a:off x="1146810" y="1569085"/>
            <a:ext cx="5570855" cy="1259840"/>
          </a:xfrm>
          <a:prstGeom prst="rect">
            <a:avLst/>
          </a:prstGeom>
          <a:noFill/>
          <a:ln w="12700" cap="flat">
            <a:noFill/>
            <a:miter lim="400000"/>
          </a:ln>
          <a:effectLst/>
        </p:spPr>
        <p:txBody>
          <a:bodyPr wrap="square" lIns="50800" tIns="50800" rIns="50800" bIns="50800" numCol="1" anchor="ctr">
            <a:noAutofit/>
          </a:bodyPr>
          <a:lstStyle>
            <a:lvl1pPr>
              <a:defRPr sz="8000" b="0">
                <a:solidFill>
                  <a:srgbClr val="31333D"/>
                </a:solidFill>
                <a:latin typeface="Maven Pro Medium"/>
                <a:ea typeface="Maven Pro Medium"/>
                <a:cs typeface="Maven Pro Medium"/>
                <a:sym typeface="Maven Pro Medium"/>
              </a:defRPr>
            </a:lvl1pPr>
          </a:lstStyle>
          <a:p>
            <a:pPr algn="l">
              <a:lnSpc>
                <a:spcPct val="80000"/>
              </a:lnSpc>
            </a:pPr>
            <a:r>
              <a:rPr lang="en-US" altLang="en-US" sz="4800" b="1">
                <a:latin typeface="Calibri" panose="020F0502020204030204" charset="0"/>
                <a:ea typeface="Calibri" panose="020F0502020204030204" charset="0"/>
                <a:cs typeface="Calibri" panose="020F0502020204030204" charset="0"/>
                <a:sym typeface="+mn-ea"/>
              </a:rPr>
              <a:t>Good Loan KPIs:</a:t>
            </a:r>
            <a:endParaRPr lang="en-IN" altLang="zh-CN" sz="4800" b="1">
              <a:latin typeface="Times New Roman" panose="02020603050405020304" charset="0"/>
              <a:ea typeface="Calibri" panose="020F0502020204030204" charset="0"/>
              <a:cs typeface="Times New Roman" panose="02020603050405020304" charset="0"/>
            </a:endParaRPr>
          </a:p>
        </p:txBody>
      </p:sp>
      <p:sp>
        <p:nvSpPr>
          <p:cNvPr id="83" name="Фигура"/>
          <p:cNvSpPr/>
          <p:nvPr/>
        </p:nvSpPr>
        <p:spPr>
          <a:xfrm>
            <a:off x="2265680" y="2364740"/>
            <a:ext cx="1866900" cy="464185"/>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dirty="0">
              <a:latin typeface="Calibri" panose="020F0502020204030204" charset="0"/>
              <a:ea typeface="Calibri" panose="020F0502020204030204" charset="0"/>
              <a:cs typeface="Calibri" panose="020F0502020204030204" charset="0"/>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1432560" y="3702050"/>
            <a:ext cx="21362035" cy="6723380"/>
          </a:xfrm>
          <a:prstGeom prst="rect">
            <a:avLst/>
          </a:prstGeom>
          <a:noFill/>
          <a:ln w="12700" cap="flat">
            <a:noFill/>
            <a:miter lim="400000"/>
          </a:ln>
          <a:effectLst/>
        </p:spPr>
        <p:txBody>
          <a:bodyPr wrap="square" lIns="50800" tIns="50800" rIns="50800" bIns="50800" numCol="1" anchor="t">
            <a:no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lnSpc>
                <a:spcPct val="80000"/>
              </a:lnSpc>
            </a:pPr>
            <a:r>
              <a:rPr lang="en-US" altLang="en-US" sz="3200" b="1">
                <a:latin typeface="Calibri" panose="020F0502020204030204" charset="0"/>
                <a:ea typeface="Calibri" panose="020F0502020204030204" charset="0"/>
                <a:cs typeface="Calibri" panose="020F0502020204030204" charset="0"/>
              </a:rPr>
              <a:t>Percentage of Bad Loan Applications:</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a:latin typeface="Calibri" panose="020F0502020204030204" charset="0"/>
                <a:ea typeface="Calibri" panose="020F0502020204030204" charset="0"/>
                <a:cs typeface="Calibri" panose="020F0502020204030204" charset="0"/>
              </a:rPr>
              <a:t>Calculate the share of loan applications identified as Bad Loans. This category includes only loans with a status of “Charged Off.”</a:t>
            </a:r>
            <a:endParaRPr lang="en-US" altLang="en-US" sz="3200">
              <a:latin typeface="Calibri" panose="020F0502020204030204" charset="0"/>
              <a:ea typeface="Calibri" panose="020F0502020204030204" charset="0"/>
              <a:cs typeface="Calibri" panose="020F0502020204030204" charset="0"/>
            </a:endParaRPr>
          </a:p>
          <a:p>
            <a:pPr>
              <a:lnSpc>
                <a:spcPct val="80000"/>
              </a:lnSpc>
            </a:pPr>
            <a:endParaRPr lang="en-US" altLang="en-US" sz="3200" b="1">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Number of Bad Loan Applications:</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a:latin typeface="Calibri" panose="020F0502020204030204" charset="0"/>
                <a:ea typeface="Calibri" panose="020F0502020204030204" charset="0"/>
                <a:cs typeface="Calibri" panose="020F0502020204030204" charset="0"/>
              </a:rPr>
              <a:t>Identify the total number of loan applications classified as Bad Loans, which are loans marked as “Charged Off.”</a:t>
            </a:r>
            <a:endParaRPr lang="en-US" altLang="en-US" sz="3200">
              <a:latin typeface="Calibri" panose="020F0502020204030204" charset="0"/>
              <a:ea typeface="Calibri" panose="020F0502020204030204" charset="0"/>
              <a:cs typeface="Calibri" panose="020F0502020204030204" charset="0"/>
            </a:endParaRPr>
          </a:p>
          <a:p>
            <a:pPr>
              <a:lnSpc>
                <a:spcPct val="80000"/>
              </a:lnSpc>
            </a:pP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Total Funded Amount for Bad Loans:</a:t>
            </a: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a:latin typeface="Calibri" panose="020F0502020204030204" charset="0"/>
                <a:ea typeface="Calibri" panose="020F0502020204030204" charset="0"/>
                <a:cs typeface="Calibri" panose="020F0502020204030204" charset="0"/>
              </a:rPr>
              <a:t>Determine the total funds disbursed as Bad Loans, representing the principal amounts of loans with a “Charged Off” status.</a:t>
            </a:r>
            <a:endParaRPr lang="en-US" altLang="en-US" sz="3200">
              <a:latin typeface="Calibri" panose="020F0502020204030204" charset="0"/>
              <a:ea typeface="Calibri" panose="020F0502020204030204" charset="0"/>
              <a:cs typeface="Calibri" panose="020F0502020204030204" charset="0"/>
            </a:endParaRPr>
          </a:p>
          <a:p>
            <a:pPr>
              <a:lnSpc>
                <a:spcPct val="80000"/>
              </a:lnSpc>
            </a:pPr>
            <a:endParaRPr lang="en-US" altLang="en-US" sz="3200">
              <a:latin typeface="Calibri" panose="020F0502020204030204" charset="0"/>
              <a:ea typeface="Calibri" panose="020F0502020204030204" charset="0"/>
              <a:cs typeface="Calibri" panose="020F0502020204030204" charset="0"/>
            </a:endParaRPr>
          </a:p>
          <a:p>
            <a:pPr>
              <a:lnSpc>
                <a:spcPct val="80000"/>
              </a:lnSpc>
            </a:pPr>
            <a:r>
              <a:rPr lang="en-US" altLang="en-US" sz="3200" b="1">
                <a:latin typeface="Calibri" panose="020F0502020204030204" charset="0"/>
                <a:ea typeface="Calibri" panose="020F0502020204030204" charset="0"/>
                <a:cs typeface="Calibri" panose="020F0502020204030204" charset="0"/>
              </a:rPr>
              <a:t>Total Amount Received from Bad Loans:</a:t>
            </a:r>
            <a:endParaRPr lang="en-US" altLang="en-US" sz="3200">
              <a:latin typeface="Calibri" panose="020F0502020204030204" charset="0"/>
              <a:ea typeface="Calibri" panose="020F0502020204030204" charset="0"/>
              <a:cs typeface="Calibri" panose="020F0502020204030204" charset="0"/>
            </a:endParaRPr>
          </a:p>
          <a:p>
            <a:pPr>
              <a:lnSpc>
                <a:spcPct val="100000"/>
              </a:lnSpc>
            </a:pPr>
            <a:r>
              <a:rPr lang="en-US" altLang="en-US" sz="3200">
                <a:latin typeface="Calibri" panose="020F0502020204030204" charset="0"/>
                <a:ea typeface="Calibri" panose="020F0502020204030204" charset="0"/>
                <a:cs typeface="Calibri" panose="020F0502020204030204" charset="0"/>
              </a:rPr>
              <a:t>Track the total payments received from borrowers for Bad Loans, which includes all amounts collected on loans with a “Charged Off” status.</a:t>
            </a:r>
            <a:endParaRPr lang="en-US" altLang="en-US" sz="3200">
              <a:latin typeface="Calibri" panose="020F0502020204030204" charset="0"/>
              <a:ea typeface="Calibri" panose="020F0502020204030204" charset="0"/>
              <a:cs typeface="Calibri" panose="020F0502020204030204" charset="0"/>
            </a:endParaRPr>
          </a:p>
        </p:txBody>
      </p:sp>
      <p:sp>
        <p:nvSpPr>
          <p:cNvPr id="82" name="Numbered List"/>
          <p:cNvSpPr txBox="1"/>
          <p:nvPr/>
        </p:nvSpPr>
        <p:spPr>
          <a:xfrm>
            <a:off x="1146810" y="1569085"/>
            <a:ext cx="5570855" cy="1259840"/>
          </a:xfrm>
          <a:prstGeom prst="rect">
            <a:avLst/>
          </a:prstGeom>
          <a:noFill/>
          <a:ln w="12700" cap="flat">
            <a:noFill/>
            <a:miter lim="400000"/>
          </a:ln>
          <a:effectLst/>
        </p:spPr>
        <p:txBody>
          <a:bodyPr wrap="square" lIns="50800" tIns="50800" rIns="50800" bIns="50800" numCol="1" anchor="ctr">
            <a:noAutofit/>
          </a:bodyPr>
          <a:lstStyle>
            <a:lvl1pPr>
              <a:defRPr sz="8000" b="0">
                <a:solidFill>
                  <a:srgbClr val="31333D"/>
                </a:solidFill>
                <a:latin typeface="Maven Pro Medium"/>
                <a:ea typeface="Maven Pro Medium"/>
                <a:cs typeface="Maven Pro Medium"/>
                <a:sym typeface="Maven Pro Medium"/>
              </a:defRPr>
            </a:lvl1pPr>
          </a:lstStyle>
          <a:p>
            <a:pPr algn="l">
              <a:lnSpc>
                <a:spcPct val="80000"/>
              </a:lnSpc>
            </a:pPr>
            <a:r>
              <a:rPr lang="en-IN" altLang="en-US" sz="4800" b="1">
                <a:latin typeface="Calibri" panose="020F0502020204030204" charset="0"/>
                <a:ea typeface="Calibri" panose="020F0502020204030204" charset="0"/>
                <a:cs typeface="Calibri" panose="020F0502020204030204" charset="0"/>
                <a:sym typeface="+mn-ea"/>
              </a:rPr>
              <a:t>Ba</a:t>
            </a:r>
            <a:r>
              <a:rPr lang="en-US" altLang="en-US" sz="4800" b="1">
                <a:latin typeface="Calibri" panose="020F0502020204030204" charset="0"/>
                <a:ea typeface="Calibri" panose="020F0502020204030204" charset="0"/>
                <a:cs typeface="Calibri" panose="020F0502020204030204" charset="0"/>
                <a:sym typeface="+mn-ea"/>
              </a:rPr>
              <a:t>d Loan KPIs:</a:t>
            </a:r>
            <a:endParaRPr lang="en-IN" altLang="zh-CN" sz="4800" b="1">
              <a:latin typeface="Times New Roman" panose="02020603050405020304" charset="0"/>
              <a:ea typeface="Calibri" panose="020F0502020204030204" charset="0"/>
              <a:cs typeface="Times New Roman" panose="02020603050405020304" charset="0"/>
            </a:endParaRPr>
          </a:p>
        </p:txBody>
      </p:sp>
      <p:sp>
        <p:nvSpPr>
          <p:cNvPr id="83" name="Фигура"/>
          <p:cNvSpPr/>
          <p:nvPr/>
        </p:nvSpPr>
        <p:spPr>
          <a:xfrm>
            <a:off x="2265680" y="2364740"/>
            <a:ext cx="1866900" cy="464185"/>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dirty="0">
              <a:latin typeface="Calibri" panose="020F0502020204030204" charset="0"/>
              <a:ea typeface="Calibri" panose="020F0502020204030204" charset="0"/>
              <a:cs typeface="Calibri" panose="020F0502020204030204"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Кружок"/>
          <p:cNvSpPr/>
          <p:nvPr/>
        </p:nvSpPr>
        <p:spPr>
          <a:xfrm>
            <a:off x="-3273475" y="-73075"/>
            <a:ext cx="18942150" cy="18942150"/>
          </a:xfrm>
          <a:prstGeom prst="ellipse">
            <a:avLst/>
          </a:prstGeom>
          <a:solidFill>
            <a:schemeClr val="accent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1" name="Кружок"/>
          <p:cNvSpPr/>
          <p:nvPr/>
        </p:nvSpPr>
        <p:spPr>
          <a:xfrm>
            <a:off x="1346795" y="4547195"/>
            <a:ext cx="9701610" cy="970161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2" name="Кружок"/>
          <p:cNvSpPr/>
          <p:nvPr/>
        </p:nvSpPr>
        <p:spPr>
          <a:xfrm>
            <a:off x="3761531" y="6961931"/>
            <a:ext cx="4872138" cy="4872138"/>
          </a:xfrm>
          <a:prstGeom prst="ellipse">
            <a:avLst/>
          </a:prstGeom>
          <a:solidFill>
            <a:schemeClr val="accent3">
              <a:lumMod val="20000"/>
              <a:lumOff val="80000"/>
            </a:scheme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3"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a:t>
            </a:r>
            <a:r>
              <a:rPr lang="en-IN" altLang="en-US" sz="22400">
                <a:latin typeface="Microsoft YaHei Light" panose="020B0502040204020203" charset="-122"/>
                <a:ea typeface="Microsoft YaHei Light" panose="020B0502040204020203" charset="-122"/>
                <a:cs typeface="Calibri" panose="020F0502020204030204" charset="0"/>
              </a:rPr>
              <a:t>2</a:t>
            </a:r>
            <a:endParaRPr lang="en-IN" altLang="en-US" sz="22400">
              <a:latin typeface="Microsoft YaHei Light" panose="020B0502040204020203" charset="-122"/>
              <a:ea typeface="Microsoft YaHei Light" panose="020B0502040204020203" charset="-122"/>
              <a:cs typeface="Calibri" panose="020F0502020204030204" charset="0"/>
            </a:endParaRPr>
          </a:p>
        </p:txBody>
      </p:sp>
      <p:grpSp>
        <p:nvGrpSpPr>
          <p:cNvPr id="56" name="Группа"/>
          <p:cNvGrpSpPr/>
          <p:nvPr/>
        </p:nvGrpSpPr>
        <p:grpSpPr>
          <a:xfrm>
            <a:off x="5684440" y="8884840"/>
            <a:ext cx="1026320" cy="1026320"/>
            <a:chOff x="0" y="0"/>
            <a:chExt cx="1026318" cy="1026318"/>
          </a:xfrm>
        </p:grpSpPr>
        <p:sp>
          <p:nvSpPr>
            <p:cNvPr id="54"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5"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lstStyle/>
            <a:p>
              <a:pPr algn="l" defTabSz="914400">
                <a:defRPr sz="1800" b="0">
                  <a:latin typeface="Roboto"/>
                  <a:ea typeface="Roboto"/>
                  <a:cs typeface="Roboto"/>
                  <a:sym typeface="Roboto"/>
                </a:defRPr>
              </a:pPr>
              <a:endParaRPr>
                <a:latin typeface="Calibri" panose="020F0502020204030204" charset="0"/>
                <a:ea typeface="Calibri" panose="020F0502020204030204" charset="0"/>
                <a:cs typeface="Calibri" panose="020F0502020204030204" charset="0"/>
              </a:endParaRPr>
            </a:p>
          </p:txBody>
        </p:sp>
      </p:grpSp>
      <p:grpSp>
        <p:nvGrpSpPr>
          <p:cNvPr id="76" name="Группа"/>
          <p:cNvGrpSpPr/>
          <p:nvPr/>
        </p:nvGrpSpPr>
        <p:grpSpPr>
          <a:xfrm>
            <a:off x="14323231" y="5417157"/>
            <a:ext cx="8910320" cy="2433320"/>
            <a:chOff x="0" y="-80009"/>
            <a:chExt cx="8910318" cy="2433320"/>
          </a:xfrm>
        </p:grpSpPr>
        <p:sp>
          <p:nvSpPr>
            <p:cNvPr id="74" name="Title text slide"/>
            <p:cNvSpPr txBox="1"/>
            <p:nvPr/>
          </p:nvSpPr>
          <p:spPr>
            <a:xfrm>
              <a:off x="0" y="-80009"/>
              <a:ext cx="7611387" cy="1455420"/>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lang="en-IN" sz="8800">
                  <a:latin typeface="Calibri" panose="020F0502020204030204" charset="0"/>
                  <a:ea typeface="Calibri" panose="020F0502020204030204" charset="0"/>
                  <a:cs typeface="Calibri" panose="020F0502020204030204" charset="0"/>
                </a:rPr>
                <a:t>OVERVIEW</a:t>
              </a:r>
              <a:endParaRPr lang="en-IN" sz="8800">
                <a:latin typeface="Calibri" panose="020F0502020204030204" charset="0"/>
                <a:ea typeface="Calibri" panose="020F0502020204030204" charset="0"/>
                <a:cs typeface="Calibri" panose="020F0502020204030204" charset="0"/>
              </a:endParaRPr>
            </a:p>
          </p:txBody>
        </p:sp>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56515" y="1661161"/>
              <a:ext cx="8853803" cy="692150"/>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altLang="en-US" sz="3200">
                  <a:latin typeface="Calibri" panose="020F0502020204030204" charset="0"/>
                  <a:ea typeface="Calibri" panose="020F0502020204030204" charset="0"/>
                  <a:cs typeface="Calibri" panose="020F0502020204030204" charset="0"/>
                </a:rPr>
                <a:t>critical loan-related metrics and trends</a:t>
              </a:r>
              <a:endParaRPr lang="en-US" altLang="en-US" sz="3200">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Кружок"/>
          <p:cNvSpPr/>
          <p:nvPr/>
        </p:nvSpPr>
        <p:spPr>
          <a:xfrm>
            <a:off x="3435480" y="1785887"/>
            <a:ext cx="10652671" cy="10652672"/>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12"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lit esse cillum dolore eu fugiat nulla pariatur. Excepteur sint occaecat c idatat non proident, sunt in culpa qui officia deserunt mollit anim id est laborum.…"/>
          <p:cNvSpPr txBox="1"/>
          <p:nvPr/>
        </p:nvSpPr>
        <p:spPr>
          <a:xfrm>
            <a:off x="8595360" y="2442210"/>
            <a:ext cx="14957425" cy="9604375"/>
          </a:xfrm>
          <a:prstGeom prst="rect">
            <a:avLst/>
          </a:prstGeom>
          <a:ln w="12700">
            <a:miter lim="400000"/>
          </a:ln>
        </p:spPr>
        <p:txBody>
          <a:bodyPr wrap="square" lIns="50800" tIns="50800" rIns="50800" bIns="50800">
            <a:spAutoFit/>
          </a:bodyPr>
          <a:lstStyle/>
          <a:p>
            <a:pPr algn="l">
              <a:lnSpc>
                <a:spcPct val="120000"/>
              </a:lnSpc>
              <a:spcBef>
                <a:spcPts val="2000"/>
              </a:spcBef>
              <a:defRPr sz="2600" b="0">
                <a:solidFill>
                  <a:srgbClr val="646979"/>
                </a:solidFill>
                <a:latin typeface="Open Sans"/>
                <a:ea typeface="Open Sans"/>
                <a:cs typeface="Open Sans"/>
                <a:sym typeface="Open Sans"/>
              </a:defRPr>
            </a:pPr>
            <a:r>
              <a:rPr lang="en-US" altLang="en-US" b="1">
                <a:latin typeface="Calibri" panose="020F0502020204030204" charset="0"/>
                <a:ea typeface="Calibri" panose="020F0502020204030204" charset="0"/>
                <a:cs typeface="Calibri" panose="020F0502020204030204" charset="0"/>
              </a:rPr>
              <a:t>Monthly Trends by Issue Date (Line Chart):</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a:latin typeface="Calibri" panose="020F0502020204030204" charset="0"/>
                <a:ea typeface="Calibri" panose="020F0502020204030204" charset="0"/>
                <a:cs typeface="Calibri" panose="020F0502020204030204" charset="0"/>
              </a:rPr>
              <a:t>chart will showcase how 'Total Loan Applications,' 'Total Funded Amount,' and 'Total Amount Received' vary over time, allowing us to identify seasonality and long-term trends in lending activities.</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b="1">
                <a:latin typeface="Calibri" panose="020F0502020204030204" charset="0"/>
                <a:ea typeface="Calibri" panose="020F0502020204030204" charset="0"/>
                <a:cs typeface="Calibri" panose="020F0502020204030204" charset="0"/>
              </a:rPr>
              <a:t>Loan Term Analysis (Donut Chart):</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a:latin typeface="Calibri" panose="020F0502020204030204" charset="0"/>
                <a:ea typeface="Calibri" panose="020F0502020204030204" charset="0"/>
                <a:cs typeface="Calibri" panose="020F0502020204030204" charset="0"/>
              </a:rPr>
              <a:t>chart will depict loan statistics based on different loan terms, allowing us to understand the distribution of loans across various term lengths.</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b="1">
                <a:latin typeface="Calibri" panose="020F0502020204030204" charset="0"/>
                <a:ea typeface="Calibri" panose="020F0502020204030204" charset="0"/>
                <a:cs typeface="Calibri" panose="020F0502020204030204" charset="0"/>
              </a:rPr>
              <a:t>Employee Length Analysis (Bar Chart):</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a:latin typeface="Calibri" panose="020F0502020204030204" charset="0"/>
                <a:ea typeface="Calibri" panose="020F0502020204030204" charset="0"/>
                <a:cs typeface="Calibri" panose="020F0502020204030204" charset="0"/>
              </a:rPr>
              <a:t>chart will illustrate how lending metrics are distributed among borrowers with different employment lengths, helping us assess the impact of employment history on loan applications.</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b="1">
                <a:latin typeface="Calibri" panose="020F0502020204030204" charset="0"/>
                <a:ea typeface="Calibri" panose="020F0502020204030204" charset="0"/>
                <a:cs typeface="Calibri" panose="020F0502020204030204" charset="0"/>
              </a:rPr>
              <a:t>Loan Purpose Breakdown (Bar Chart):</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a:latin typeface="Calibri" panose="020F0502020204030204" charset="0"/>
                <a:ea typeface="Calibri" panose="020F0502020204030204" charset="0"/>
                <a:cs typeface="Calibri" panose="020F0502020204030204" charset="0"/>
              </a:rPr>
              <a:t>chart will provide a visual breakdown of loan metrics based on the stated purposes of loans, aiding in the understanding of the primary reasons borrowers seek financing.</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b="1">
                <a:latin typeface="Calibri" panose="020F0502020204030204" charset="0"/>
                <a:ea typeface="Calibri" panose="020F0502020204030204" charset="0"/>
                <a:cs typeface="Calibri" panose="020F0502020204030204" charset="0"/>
              </a:rPr>
              <a:t>Home Ownership Analysis (Tree Map):</a:t>
            </a:r>
            <a:endParaRPr lang="en-US" altLang="en-US">
              <a:latin typeface="Calibri" panose="020F0502020204030204" charset="0"/>
              <a:ea typeface="Calibri" panose="020F0502020204030204" charset="0"/>
              <a:cs typeface="Calibri" panose="020F0502020204030204" charset="0"/>
            </a:endParaRPr>
          </a:p>
          <a:p>
            <a:pPr algn="l">
              <a:lnSpc>
                <a:spcPct val="120000"/>
              </a:lnSpc>
              <a:spcBef>
                <a:spcPts val="2000"/>
              </a:spcBef>
              <a:defRPr sz="2600" b="0">
                <a:solidFill>
                  <a:srgbClr val="646979"/>
                </a:solidFill>
                <a:latin typeface="Open Sans"/>
                <a:ea typeface="Open Sans"/>
                <a:cs typeface="Open Sans"/>
                <a:sym typeface="Open Sans"/>
              </a:defRPr>
            </a:pPr>
            <a:r>
              <a:rPr lang="en-US" altLang="en-US">
                <a:latin typeface="Calibri" panose="020F0502020204030204" charset="0"/>
                <a:ea typeface="Calibri" panose="020F0502020204030204" charset="0"/>
                <a:cs typeface="Calibri" panose="020F0502020204030204" charset="0"/>
              </a:rPr>
              <a:t>map will display loan metrics categorized by different home ownership statuses, allowing for a hierarchical view of how home ownership impacts loan applications and disbursements.</a:t>
            </a:r>
            <a:endParaRPr lang="en-US" altLang="en-US">
              <a:latin typeface="Calibri" panose="020F0502020204030204" charset="0"/>
              <a:ea typeface="Calibri" panose="020F0502020204030204" charset="0"/>
              <a:cs typeface="Calibri" panose="020F0502020204030204" charset="0"/>
            </a:endParaRPr>
          </a:p>
        </p:txBody>
      </p:sp>
      <p:grpSp>
        <p:nvGrpSpPr>
          <p:cNvPr id="115" name="Группа"/>
          <p:cNvGrpSpPr/>
          <p:nvPr/>
        </p:nvGrpSpPr>
        <p:grpSpPr>
          <a:xfrm>
            <a:off x="842624" y="4348708"/>
            <a:ext cx="7445401" cy="4256737"/>
            <a:chOff x="-1551940" y="-55880"/>
            <a:chExt cx="7445400" cy="4256736"/>
          </a:xfrm>
        </p:grpSpPr>
        <p:sp>
          <p:nvSpPr>
            <p:cNvPr id="113" name="Title text slide"/>
            <p:cNvSpPr txBox="1"/>
            <p:nvPr/>
          </p:nvSpPr>
          <p:spPr>
            <a:xfrm>
              <a:off x="-1551940" y="-55880"/>
              <a:ext cx="7445400" cy="3794759"/>
            </a:xfrm>
            <a:prstGeom prst="rect">
              <a:avLst/>
            </a:prstGeom>
            <a:noFill/>
            <a:ln w="12700" cap="flat">
              <a:noFill/>
              <a:miter lim="400000"/>
            </a:ln>
            <a:effectLst/>
          </p:spPr>
          <p:txBody>
            <a:bodyPr wrap="square" lIns="50800" tIns="50800" rIns="50800" bIns="50800" numCol="1" anchor="ctr">
              <a:spAutoFit/>
            </a:bodyPr>
            <a:lstStyle>
              <a:lvl1pPr algn="l">
                <a:defRPr sz="12000" b="0">
                  <a:solidFill>
                    <a:srgbClr val="31333D"/>
                  </a:solidFill>
                  <a:latin typeface="Maven Pro Medium"/>
                  <a:ea typeface="Maven Pro Medium"/>
                  <a:cs typeface="Maven Pro Medium"/>
                  <a:sym typeface="Maven Pro Medium"/>
                </a:defRPr>
              </a:lvl1pPr>
            </a:lstStyle>
            <a:p>
              <a:pPr algn="ctr"/>
              <a:r>
                <a:rPr lang="en-IN" b="1">
                  <a:latin typeface="Times New Roman" panose="02020603050405020304" charset="0"/>
                  <a:ea typeface="Calibri" panose="020F0502020204030204" charset="0"/>
                  <a:cs typeface="Times New Roman" panose="02020603050405020304" charset="0"/>
                </a:rPr>
                <a:t>VARIOUS DATA’S </a:t>
              </a:r>
              <a:endParaRPr lang="en-IN" b="1">
                <a:latin typeface="Times New Roman" panose="02020603050405020304" charset="0"/>
                <a:ea typeface="Calibri" panose="020F0502020204030204" charset="0"/>
                <a:cs typeface="Times New Roman" panose="02020603050405020304" charset="0"/>
              </a:endParaRPr>
            </a:p>
          </p:txBody>
        </p:sp>
        <p:sp>
          <p:nvSpPr>
            <p:cNvPr id="114" name="Фигура"/>
            <p:cNvSpPr/>
            <p:nvPr/>
          </p:nvSpPr>
          <p:spPr>
            <a:xfrm>
              <a:off x="1320054" y="3640183"/>
              <a:ext cx="1576918" cy="560673"/>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Кружок"/>
          <p:cNvSpPr/>
          <p:nvPr/>
        </p:nvSpPr>
        <p:spPr>
          <a:xfrm>
            <a:off x="-3273475" y="-73075"/>
            <a:ext cx="18942150" cy="18942150"/>
          </a:xfrm>
          <a:prstGeom prst="ellipse">
            <a:avLst/>
          </a:prstGeom>
          <a:solidFill>
            <a:schemeClr val="accent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1" name="Кружок"/>
          <p:cNvSpPr/>
          <p:nvPr/>
        </p:nvSpPr>
        <p:spPr>
          <a:xfrm>
            <a:off x="1346795" y="4547195"/>
            <a:ext cx="9701610" cy="970161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2" name="Кружок"/>
          <p:cNvSpPr/>
          <p:nvPr/>
        </p:nvSpPr>
        <p:spPr>
          <a:xfrm>
            <a:off x="3761531" y="6961931"/>
            <a:ext cx="4872138" cy="4872138"/>
          </a:xfrm>
          <a:prstGeom prst="ellipse">
            <a:avLst/>
          </a:prstGeom>
          <a:solidFill>
            <a:schemeClr val="accent3">
              <a:lumMod val="40000"/>
              <a:lumOff val="60000"/>
            </a:scheme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3"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a:t>
            </a:r>
            <a:r>
              <a:rPr lang="en-IN" altLang="en-US" sz="22400">
                <a:latin typeface="Microsoft YaHei Light" panose="020B0502040204020203" charset="-122"/>
                <a:ea typeface="Microsoft YaHei Light" panose="020B0502040204020203" charset="-122"/>
                <a:cs typeface="Calibri" panose="020F0502020204030204" charset="0"/>
              </a:rPr>
              <a:t>3</a:t>
            </a:r>
            <a:endParaRPr lang="en-IN" altLang="en-US" sz="22400">
              <a:latin typeface="Microsoft YaHei Light" panose="020B0502040204020203" charset="-122"/>
              <a:ea typeface="Microsoft YaHei Light" panose="020B0502040204020203" charset="-122"/>
              <a:cs typeface="Calibri" panose="020F0502020204030204" charset="0"/>
            </a:endParaRPr>
          </a:p>
        </p:txBody>
      </p:sp>
      <p:grpSp>
        <p:nvGrpSpPr>
          <p:cNvPr id="56" name="Группа"/>
          <p:cNvGrpSpPr/>
          <p:nvPr/>
        </p:nvGrpSpPr>
        <p:grpSpPr>
          <a:xfrm>
            <a:off x="5684440" y="8884840"/>
            <a:ext cx="1026320" cy="1026320"/>
            <a:chOff x="0" y="0"/>
            <a:chExt cx="1026318" cy="1026318"/>
          </a:xfrm>
        </p:grpSpPr>
        <p:sp>
          <p:nvSpPr>
            <p:cNvPr id="54"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55"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lstStyle/>
            <a:p>
              <a:pPr algn="l" defTabSz="914400">
                <a:defRPr sz="1800" b="0">
                  <a:latin typeface="Roboto"/>
                  <a:ea typeface="Roboto"/>
                  <a:cs typeface="Roboto"/>
                  <a:sym typeface="Roboto"/>
                </a:defRPr>
              </a:pPr>
              <a:endParaRPr>
                <a:latin typeface="Calibri" panose="020F0502020204030204" charset="0"/>
                <a:ea typeface="Calibri" panose="020F0502020204030204" charset="0"/>
                <a:cs typeface="Calibri" panose="020F0502020204030204" charset="0"/>
              </a:endParaRPr>
            </a:p>
          </p:txBody>
        </p:sp>
      </p:grpSp>
      <p:grpSp>
        <p:nvGrpSpPr>
          <p:cNvPr id="76" name="Группа"/>
          <p:cNvGrpSpPr/>
          <p:nvPr/>
        </p:nvGrpSpPr>
        <p:grpSpPr>
          <a:xfrm>
            <a:off x="14323231" y="5417157"/>
            <a:ext cx="8910320" cy="3023870"/>
            <a:chOff x="0" y="-80009"/>
            <a:chExt cx="8910318" cy="3023870"/>
          </a:xfrm>
        </p:grpSpPr>
        <p:sp>
          <p:nvSpPr>
            <p:cNvPr id="74" name="Title text slide"/>
            <p:cNvSpPr txBox="1"/>
            <p:nvPr/>
          </p:nvSpPr>
          <p:spPr>
            <a:xfrm>
              <a:off x="0" y="-80009"/>
              <a:ext cx="7611387" cy="1455420"/>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lang="en-IN" sz="8800">
                  <a:latin typeface="Calibri" panose="020F0502020204030204" charset="0"/>
                  <a:ea typeface="Calibri" panose="020F0502020204030204" charset="0"/>
                  <a:cs typeface="Calibri" panose="020F0502020204030204" charset="0"/>
                </a:rPr>
                <a:t>DETAILS</a:t>
              </a:r>
              <a:endParaRPr lang="en-IN" sz="8800">
                <a:latin typeface="Calibri" panose="020F0502020204030204" charset="0"/>
                <a:ea typeface="Calibri" panose="020F0502020204030204" charset="0"/>
                <a:cs typeface="Calibri" panose="020F0502020204030204" charset="0"/>
              </a:endParaRPr>
            </a:p>
          </p:txBody>
        </p:sp>
        <p:sp>
          <p:nvSpPr>
            <p:cNvPr id="75" name="Lorem ipsum dolor sit amet, consectetur adipisg elit, sed do eiusmod tempor incididunt ut labore et dolore magna aliqua. Ut enim ad minim vem, quis nostrud exercitation ullamco laboris nisi ut aliquip ex ea commo consequat. Duis aute irure dolor in reprehenderit in voluptate in velit esse cillum dolore eu fugiat nulla pariatur. Excepteur sint occaecat cupidatat non proident, sunt in culpa qui officia deserunt qui mollit anim id est natus error sit voluptatem accusantium doloue"/>
            <p:cNvSpPr txBox="1"/>
            <p:nvPr/>
          </p:nvSpPr>
          <p:spPr>
            <a:xfrm>
              <a:off x="56515" y="1661161"/>
              <a:ext cx="8853803" cy="1282700"/>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altLang="en-US" sz="3200">
                  <a:latin typeface="Calibri" panose="020F0502020204030204" charset="0"/>
                  <a:ea typeface="Calibri" panose="020F0502020204030204" charset="0"/>
                  <a:cs typeface="Calibri" panose="020F0502020204030204" charset="0"/>
                </a:rPr>
                <a:t> consolidated view of all the essential information within our loan data</a:t>
              </a:r>
              <a:endParaRPr lang="en-US" altLang="en-US" sz="3200">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Рисунок 1"/>
          <p:cNvSpPr>
            <a:spLocks noGrp="1"/>
          </p:cNvSpPr>
          <p:nvPr>
            <p:ph type="pic" sz="quarter" idx="10"/>
          </p:nvPr>
        </p:nvSpPr>
        <p:spPr>
          <a:xfrm>
            <a:off x="-4200417" y="2438400"/>
            <a:ext cx="8839200" cy="8839200"/>
          </a:xfrm>
          <a:prstGeom prst="ellipse">
            <a:avLst/>
          </a:prstGeom>
          <a:solidFill>
            <a:schemeClr val="accent2">
              <a:lumMod val="20000"/>
              <a:lumOff val="80000"/>
            </a:schemeClr>
          </a:solidFill>
        </p:spPr>
      </p:sp>
      <p:sp>
        <p:nvSpPr>
          <p:cNvPr id="779" name="Закругленный прямоугольник"/>
          <p:cNvSpPr/>
          <p:nvPr/>
        </p:nvSpPr>
        <p:spPr>
          <a:xfrm>
            <a:off x="11886664" y="2438400"/>
            <a:ext cx="28171875" cy="8839200"/>
          </a:xfrm>
          <a:prstGeom prst="roundRect">
            <a:avLst>
              <a:gd name="adj" fmla="val 50000"/>
            </a:avLst>
          </a:prstGeom>
          <a:solidFill>
            <a:schemeClr val="accent3">
              <a:lumMod val="40000"/>
              <a:lumOff val="60000"/>
            </a:scheme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780" name="Title text slide"/>
          <p:cNvSpPr txBox="1"/>
          <p:nvPr/>
        </p:nvSpPr>
        <p:spPr>
          <a:xfrm>
            <a:off x="4855540" y="2177385"/>
            <a:ext cx="9112176" cy="1332230"/>
          </a:xfrm>
          <a:prstGeom prst="rect">
            <a:avLst/>
          </a:prstGeom>
          <a:ln w="12700">
            <a:miter lim="400000"/>
          </a:ln>
        </p:spPr>
        <p:txBody>
          <a:bodyPr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IN">
                <a:latin typeface="Calibri" panose="020F0502020204030204" charset="0"/>
                <a:ea typeface="Calibri" panose="020F0502020204030204" charset="0"/>
                <a:cs typeface="Calibri" panose="020F0502020204030204" charset="0"/>
              </a:rPr>
              <a:t>OBJECTIVE</a:t>
            </a:r>
            <a:endParaRPr lang="en-IN">
              <a:latin typeface="Calibri" panose="020F0502020204030204" charset="0"/>
              <a:ea typeface="Calibri" panose="020F0502020204030204" charset="0"/>
              <a:cs typeface="Calibri" panose="020F0502020204030204" charset="0"/>
            </a:endParaRPr>
          </a:p>
        </p:txBody>
      </p:sp>
      <p:sp>
        <p:nvSpPr>
          <p:cNvPr id="781" name="Фигура"/>
          <p:cNvSpPr/>
          <p:nvPr/>
        </p:nvSpPr>
        <p:spPr>
          <a:xfrm>
            <a:off x="6258144" y="3560144"/>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782"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6233160" y="4606290"/>
            <a:ext cx="16959580" cy="7318375"/>
          </a:xfrm>
          <a:prstGeom prst="rect">
            <a:avLst/>
          </a:prstGeom>
          <a:ln w="12700">
            <a:miter lim="400000"/>
          </a:ln>
        </p:spPr>
        <p:txBody>
          <a:bodyPr wrap="square" lIns="50800" tIns="50800" rIns="50800" bIns="50800">
            <a:no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altLang="en-US" sz="3200">
                <a:latin typeface="Calibri" panose="020F0502020204030204" charset="0"/>
                <a:ea typeface="Calibri" panose="020F0502020204030204" charset="0"/>
                <a:cs typeface="Calibri" panose="020F0502020204030204" charset="0"/>
              </a:rPr>
              <a:t>The main purpose of the Details Dashboard is to deliver a clear, interactive, and well-structured platform that enables users to easily explore and analyze critical loan-related information. This dashboard is designed to act as a centralized hub where all essential data is brought together, eliminating the need to navigate across multiple systems or reports.</a:t>
            </a:r>
            <a:endParaRPr lang="en-US" altLang="en-US" sz="3200">
              <a:latin typeface="Calibri" panose="020F0502020204030204" charset="0"/>
              <a:ea typeface="Calibri" panose="020F0502020204030204" charset="0"/>
              <a:cs typeface="Calibri" panose="020F0502020204030204" charset="0"/>
            </a:endParaRPr>
          </a:p>
          <a:p>
            <a:r>
              <a:rPr lang="en-US" altLang="en-US" sz="3200">
                <a:latin typeface="Calibri" panose="020F0502020204030204" charset="0"/>
                <a:ea typeface="Calibri" panose="020F0502020204030204" charset="0"/>
                <a:cs typeface="Calibri" panose="020F0502020204030204" charset="0"/>
              </a:rPr>
              <a:t>Through this dashboard, users can gain in-depth visibility into the overall loan portfolio, including individual loan records, borrower demographics, and repayment behavior. It allows stakeholders to closely monitor loan performance, identify trends, assess risk levels, and evaluate the financial health of lending activities. Additionally, the intuitive layout and user-friendly design ensure that both technical and non-technical users can quickly access meaningful insights, make informed decisions, and support effective portfolio management.</a:t>
            </a:r>
            <a:endParaRPr lang="en-US" altLang="en-US" sz="3200">
              <a:latin typeface="Calibri" panose="020F0502020204030204" charset="0"/>
              <a:ea typeface="Calibri" panose="020F0502020204030204" charset="0"/>
              <a:cs typeface="Calibri" panose="020F0502020204030204" charset="0"/>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4" name="Группа"/>
          <p:cNvGrpSpPr/>
          <p:nvPr/>
        </p:nvGrpSpPr>
        <p:grpSpPr>
          <a:xfrm>
            <a:off x="6351041" y="1017041"/>
            <a:ext cx="11681919" cy="11681919"/>
            <a:chOff x="0" y="0"/>
            <a:chExt cx="11681917" cy="11681917"/>
          </a:xfrm>
          <a:gradFill>
            <a:gsLst>
              <a:gs pos="50000">
                <a:schemeClr val="accent2"/>
              </a:gs>
              <a:gs pos="0">
                <a:schemeClr val="accent2">
                  <a:lumMod val="25000"/>
                  <a:lumOff val="75000"/>
                </a:schemeClr>
              </a:gs>
              <a:gs pos="100000">
                <a:schemeClr val="accent2">
                  <a:lumMod val="85000"/>
                </a:schemeClr>
              </a:gs>
            </a:gsLst>
            <a:lin ang="5400000" scaled="1"/>
          </a:gradFill>
        </p:grpSpPr>
        <p:sp>
          <p:nvSpPr>
            <p:cNvPr id="826" name="Кружок"/>
            <p:cNvSpPr/>
            <p:nvPr/>
          </p:nvSpPr>
          <p:spPr>
            <a:xfrm>
              <a:off x="0" y="0"/>
              <a:ext cx="11681917" cy="11681917"/>
            </a:xfrm>
            <a:prstGeom prst="ellipse">
              <a:avLst/>
            </a:prstGeom>
            <a:gradFill flip="none" rotWithShape="1">
              <a:gsLst>
                <a:gs pos="49000">
                  <a:schemeClr val="accent2"/>
                </a:gs>
                <a:gs pos="0">
                  <a:schemeClr val="accent2">
                    <a:lumMod val="25000"/>
                    <a:lumOff val="75000"/>
                  </a:schemeClr>
                </a:gs>
                <a:gs pos="100000">
                  <a:schemeClr val="accent2">
                    <a:lumMod val="85000"/>
                  </a:schemeClr>
                </a:gs>
              </a:gsLst>
              <a:lin ang="5400000" scaled="1"/>
            </a:gra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827" name="Thank you!"/>
            <p:cNvSpPr txBox="1"/>
            <p:nvPr/>
          </p:nvSpPr>
          <p:spPr>
            <a:xfrm>
              <a:off x="1112115" y="4594563"/>
              <a:ext cx="9457688" cy="1948180"/>
            </a:xfrm>
            <a:prstGeom prst="rect">
              <a:avLst/>
            </a:prstGeom>
            <a:grpFill/>
            <a:ln w="12700" cap="flat">
              <a:noFill/>
              <a:miter lim="400000"/>
            </a:ln>
            <a:effectLst/>
          </p:spPr>
          <p:txBody>
            <a:bodyPr wrap="none" lIns="50800" tIns="50800" rIns="50800" bIns="50800" numCol="1" anchor="ctr">
              <a:spAutoFit/>
            </a:bodyPr>
            <a:lstStyle>
              <a:lvl1pPr>
                <a:defRPr sz="12000" b="0">
                  <a:solidFill>
                    <a:srgbClr val="FFFFFF"/>
                  </a:solidFill>
                  <a:latin typeface="Maven Pro Bold"/>
                  <a:ea typeface="Maven Pro Bold"/>
                  <a:cs typeface="Maven Pro Bold"/>
                  <a:sym typeface="Maven Pro Bold"/>
                </a:defRPr>
              </a:lvl1pPr>
            </a:lstStyle>
            <a:p>
              <a:r>
                <a:rPr lang="en-US" b="1">
                  <a:latin typeface="Times New Roman" panose="02020603050405020304" charset="0"/>
                  <a:ea typeface="Calibri" panose="020F0502020204030204" charset="0"/>
                  <a:cs typeface="Times New Roman" panose="02020603050405020304" charset="0"/>
                </a:rPr>
                <a:t>THANK YOU</a:t>
              </a:r>
              <a:endParaRPr lang="en-US" b="1">
                <a:latin typeface="Times New Roman" panose="02020603050405020304" charset="0"/>
                <a:ea typeface="Calibri" panose="020F0502020204030204" charset="0"/>
                <a:cs typeface="Times New Roman" panose="02020603050405020304" charset="0"/>
              </a:endParaRPr>
            </a:p>
          </p:txBody>
        </p:sp>
        <p:sp>
          <p:nvSpPr>
            <p:cNvPr id="828" name="More Professional PowerPoint, Keynote, Google Slides Templates - HiSlide.io"/>
            <p:cNvSpPr txBox="1"/>
            <p:nvPr/>
          </p:nvSpPr>
          <p:spPr>
            <a:xfrm>
              <a:off x="2392089" y="6777093"/>
              <a:ext cx="6897738" cy="408940"/>
            </a:xfrm>
            <a:prstGeom prst="rect">
              <a:avLst/>
            </a:prstGeom>
            <a:grpFill/>
            <a:ln w="12700" cap="flat">
              <a:noFill/>
              <a:miter lim="400000"/>
            </a:ln>
            <a:effectLst/>
          </p:spPr>
          <p:txBody>
            <a:bodyPr wrap="square" lIns="50800" tIns="50800" rIns="50800" bIns="50800" numCol="1" anchor="ctr">
              <a:spAutoFit/>
            </a:bodyPr>
            <a:lstStyle/>
            <a:p>
              <a:pPr>
                <a:defRPr sz="2000" b="0">
                  <a:solidFill>
                    <a:srgbClr val="EEF4FE"/>
                  </a:solidFill>
                  <a:latin typeface="OpenSans-Regular"/>
                  <a:ea typeface="OpenSans-Regular"/>
                  <a:cs typeface="OpenSans-Regular"/>
                  <a:sym typeface="OpenSans-Regular"/>
                </a:defRPr>
              </a:pPr>
              <a:endParaRPr u="sng">
                <a:latin typeface="Calibri" panose="020F0502020204030204" charset="0"/>
                <a:ea typeface="Calibri" panose="020F0502020204030204" charset="0"/>
                <a:cs typeface="Calibri" panose="020F0502020204030204" charset="0"/>
              </a:endParaRPr>
            </a:p>
          </p:txBody>
        </p:sp>
      </p:grpSp>
    </p:spTree>
  </p:cSld>
  <p:clrMapOvr>
    <a:masterClrMapping/>
  </p:clrMapOvr>
  <p:transition spd="med"/>
</p:sld>
</file>

<file path=ppt/tags/tag1.xml><?xml version="1.0" encoding="utf-8"?>
<p:tagLst xmlns:p="http://schemas.openxmlformats.org/presentationml/2006/main">
  <p:tag name="KSO_WM_DIAGRAM_VIRTUALLY_FRAME" val="{&quot;height&quot;:591.3000787401576,&quot;left&quot;:185.55,&quot;top&quot;:350,&quot;width&quot;:1561.6000787401576}"/>
</p:tagLst>
</file>

<file path=ppt/tags/tag2.xml><?xml version="1.0" encoding="utf-8"?>
<p:tagLst xmlns:p="http://schemas.openxmlformats.org/presentationml/2006/main">
  <p:tag name="KSO_WM_DIAGRAM_VIRTUALLY_FRAME" val="{&quot;height&quot;:591.3000787401576,&quot;left&quot;:185.55,&quot;top&quot;:350,&quot;width&quot;:1561.6000787401576}"/>
</p:tagLst>
</file>

<file path=ppt/tags/tag3.xml><?xml version="1.0" encoding="utf-8"?>
<p:tagLst xmlns:p="http://schemas.openxmlformats.org/presentationml/2006/main">
  <p:tag name="KSO_WM_DIAGRAM_VIRTUALLY_FRAME" val="{&quot;height&quot;:591.3000787401576,&quot;left&quot;:185.55,&quot;top&quot;:350,&quot;width&quot;:1561.6000787401576}"/>
</p:tagLst>
</file>

<file path=ppt/tags/tag4.xml><?xml version="1.0" encoding="utf-8"?>
<p:tagLst xmlns:p="http://schemas.openxmlformats.org/presentationml/2006/main">
  <p:tag name="KSO_WM_DIAGRAM_VIRTUALLY_FRAME" val="{&quot;height&quot;:591.3000787401576,&quot;left&quot;:185.55,&quot;top&quot;:350,&quot;width&quot;:1561.6000787401576}"/>
</p:tagLst>
</file>

<file path=ppt/tags/tag5.xml><?xml version="1.0" encoding="utf-8"?>
<p:tagLst xmlns:p="http://schemas.openxmlformats.org/presentationml/2006/main">
  <p:tag name="KSO_WM_DIAGRAM_VIRTUALLY_FRAME" val="{&quot;height&quot;:591.3000787401576,&quot;left&quot;:185.55,&quot;top&quot;:350,&quot;width&quot;:1561.6000787401576}"/>
</p:tagLst>
</file>

<file path=ppt/tags/tag6.xml><?xml version="1.0" encoding="utf-8"?>
<p:tagLst xmlns:p="http://schemas.openxmlformats.org/presentationml/2006/main">
  <p:tag name="KSO_WM_DIAGRAM_VIRTUALLY_FRAME" val="{&quot;height&quot;:591.3000787401576,&quot;left&quot;:185.55,&quot;top&quot;:350,&quot;width&quot;:1561.6000787401576}"/>
</p:tagLst>
</file>

<file path=ppt/tags/tag7.xml><?xml version="1.0" encoding="utf-8"?>
<p:tagLst xmlns:p="http://schemas.openxmlformats.org/presentationml/2006/main">
  <p:tag name="KSO_WM_DIAGRAM_VIRTUALLY_FRAME" val="{&quot;height&quot;:591.3000787401576,&quot;left&quot;:185.55,&quot;top&quot;:350,&quot;width&quot;:1561.6000787401576}"/>
</p:tagLst>
</file>

<file path=ppt/tags/tag8.xml><?xml version="1.0" encoding="utf-8"?>
<p:tagLst xmlns:p="http://schemas.openxmlformats.org/presentationml/2006/main">
  <p:tag name="KSO_WM_DIAGRAM_VIRTUALLY_FRAME" val="{&quot;height&quot;:591.3000787401576,&quot;left&quot;:185.55,&quot;top&quot;:350,&quot;width&quot;:1561.6000787401576}"/>
</p:tagLst>
</file>

<file path=ppt/tags/tag9.xml><?xml version="1.0" encoding="utf-8"?>
<p:tagLst xmlns:p="http://schemas.openxmlformats.org/presentationml/2006/main">
  <p:tag name="KSO_WM_DIAGRAM_VIRTUALLY_FRAME" val="{&quot;height&quot;:591.3000787401576,&quot;left&quot;:185.55,&quot;top&quot;:350,&quot;width&quot;:1561.6000787401576}"/>
</p:tagLst>
</file>

<file path=ppt/tags/tag10.xml><?xml version="1.0" encoding="utf-8"?>
<p:tagLst xmlns:p="http://schemas.openxmlformats.org/presentationml/2006/main">
  <p:tag name="KSO_WM_DIAGRAM_VIRTUALLY_FRAME" val="{&quot;height&quot;:591.3000787401576,&quot;left&quot;:185.55,&quot;top&quot;:350,&quot;width&quot;:1561.6000787401576}"/>
</p:tagLst>
</file>

<file path=ppt/tags/tag11.xml><?xml version="1.0" encoding="utf-8"?>
<p:tagLst xmlns:p="http://schemas.openxmlformats.org/presentationml/2006/main">
  <p:tag name="KSO_WM_DIAGRAM_VIRTUALLY_FRAME" val="{&quot;height&quot;:591.3000787401576,&quot;left&quot;:185.55,&quot;top&quot;:350,&quot;width&quot;:1561.6000787401576}"/>
</p:tagLst>
</file>

<file path=ppt/tags/tag12.xml><?xml version="1.0" encoding="utf-8"?>
<p:tagLst xmlns:p="http://schemas.openxmlformats.org/presentationml/2006/main">
  <p:tag name="KSO_WM_DIAGRAM_VIRTUALLY_FRAME" val="{&quot;height&quot;:591.3000787401576,&quot;left&quot;:185.55,&quot;top&quot;:350,&quot;width&quot;:1561.6000787401576}"/>
</p:tagLst>
</file>

<file path=ppt/theme/theme1.xml><?xml version="1.0" encoding="utf-8"?>
<a:theme xmlns:a="http://schemas.openxmlformats.org/drawingml/2006/main" name="White">
  <a:themeElements>
    <a:clrScheme name="Radiance - base color">
      <a:dk1>
        <a:srgbClr val="2F313F"/>
      </a:dk1>
      <a:lt1>
        <a:srgbClr val="FFFFFF"/>
      </a:lt1>
      <a:dk2>
        <a:srgbClr val="454752"/>
      </a:dk2>
      <a:lt2>
        <a:srgbClr val="646779"/>
      </a:lt2>
      <a:accent1>
        <a:srgbClr val="635ED6"/>
      </a:accent1>
      <a:accent2>
        <a:srgbClr val="5E9EEE"/>
      </a:accent2>
      <a:accent3>
        <a:srgbClr val="635ED5"/>
      </a:accent3>
      <a:accent4>
        <a:srgbClr val="5E9EEF"/>
      </a:accent4>
      <a:accent5>
        <a:srgbClr val="D3DBE4"/>
      </a:accent5>
      <a:accent6>
        <a:srgbClr val="EDF4FD"/>
      </a:accent6>
      <a:hlink>
        <a:srgbClr val="635ED5"/>
      </a:hlink>
      <a:folHlink>
        <a:srgbClr val="5E9DEE"/>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5262</Words>
  <Application>WPS Presentation</Application>
  <PresentationFormat>Произвольный</PresentationFormat>
  <Paragraphs>96</Paragraphs>
  <Slides>12</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12</vt:i4>
      </vt:variant>
    </vt:vector>
  </HeadingPairs>
  <TitlesOfParts>
    <vt:vector size="33" baseType="lpstr">
      <vt:lpstr>Arial</vt:lpstr>
      <vt:lpstr>SimSun</vt:lpstr>
      <vt:lpstr>Wingdings</vt:lpstr>
      <vt:lpstr>Helvetica Neue</vt:lpstr>
      <vt:lpstr>Helvetica Neue Medium</vt:lpstr>
      <vt:lpstr>Calibri</vt:lpstr>
      <vt:lpstr>Helvetica Neue Light</vt:lpstr>
      <vt:lpstr>Open Sans</vt:lpstr>
      <vt:lpstr>Liberation Mono</vt:lpstr>
      <vt:lpstr>Maven Pro Bold</vt:lpstr>
      <vt:lpstr>OpenSans-Regular</vt:lpstr>
      <vt:lpstr>OpenSans-Bold</vt:lpstr>
      <vt:lpstr>Maven Pro Medium</vt:lpstr>
      <vt:lpstr>Microsoft YaHei Light</vt:lpstr>
      <vt:lpstr>Roboto</vt:lpstr>
      <vt:lpstr>Microsoft YaHei</vt:lpstr>
      <vt:lpstr>Arial Unicode MS</vt:lpstr>
      <vt:lpstr>Times New Roman</vt:lpstr>
      <vt:lpstr>Stencil</vt:lpstr>
      <vt:lpstr>Helvetica Neue Medium</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Candydeena Deenadayalan</cp:lastModifiedBy>
  <cp:revision>18</cp:revision>
  <dcterms:created xsi:type="dcterms:W3CDTF">2019-05-16T01:42:00Z</dcterms:created>
  <dcterms:modified xsi:type="dcterms:W3CDTF">2025-12-17T10:06:35Z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086ADEFBBEB24D698D24D7A141BAB588_11</vt:lpwstr>
  </property>
</Properties>
</file>